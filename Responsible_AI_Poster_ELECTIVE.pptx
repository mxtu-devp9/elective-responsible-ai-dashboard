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drawings/drawing2.xml" ContentType="application/vnd.openxmlformats-officedocument.drawingml.chartshapes+xml"/>
  <Override PartName="/ppt/charts/chart3.xml" ContentType="application/vnd.openxmlformats-officedocument.drawingml.chart+xml"/>
  <Override PartName="/ppt/drawings/drawing3.xml" ContentType="application/vnd.openxmlformats-officedocument.drawingml.chartshapes+xml"/>
  <Override PartName="/ppt/charts/chart4.xml" ContentType="application/vnd.openxmlformats-officedocument.drawingml.chart+xml"/>
  <Override PartName="/ppt/drawings/drawing4.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326563" cy="13990638"/>
  <p:notesSz cx="13990638" cy="932656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1170"/>
    <p:restoredTop sz="94610"/>
  </p:normalViewPr>
  <p:slideViewPr>
    <p:cSldViewPr snapToGrid="0" snapToObjects="1">
      <p:cViewPr>
        <p:scale>
          <a:sx n="159" d="100"/>
          <a:sy n="159" d="100"/>
        </p:scale>
        <p:origin x="1376" y="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42424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0E0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42424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24242"/>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42424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6.2358276643990927E-2"/>
          <c:y val="9.3728698023176557E-2"/>
          <c:w val="0.74489795918367352"/>
          <c:h val="0.64601750318020068"/>
        </c:manualLayout>
      </c:layout>
      <c:lineChart>
        <c:grouping val="standard"/>
        <c:varyColors val="0"/>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24242"/>
                </a:solidFill>
                <a:latin typeface="Arial"/>
              </a:defRPr>
            </a:pPr>
            <a:endParaRPr lang="en-US"/>
          </a:p>
        </c:txPr>
        <c:crossAx val="2094734552"/>
        <c:crosses val="autoZero"/>
        <c:auto val="1"/>
        <c:lblAlgn val="ctr"/>
        <c:lblOffset val="100"/>
        <c:noMultiLvlLbl val="1"/>
      </c:catAx>
      <c:valAx>
        <c:axId val="2094734552"/>
        <c:scaling>
          <c:orientation val="minMax"/>
          <c:max val="100"/>
          <c:min val="80"/>
        </c:scaling>
        <c:delete val="1"/>
        <c:axPos val="l"/>
        <c:majorGridlines>
          <c:spPr>
            <a:ln w="6350" cap="flat">
              <a:solidFill>
                <a:srgbClr val="E0E0E0"/>
              </a:solidFill>
              <a:prstDash val="solid"/>
              <a:round/>
            </a:ln>
          </c:spPr>
        </c:majorGridlines>
        <c:numFmt formatCode="General" sourceLinked="0"/>
        <c:majorTickMark val="out"/>
        <c:minorTickMark val="none"/>
        <c:tickLblPos val="nextTo"/>
        <c:crossAx val="2094734554"/>
        <c:crosses val="autoZero"/>
        <c:crossBetween val="between"/>
      </c:valAx>
      <c:spPr>
        <a:noFill/>
        <a:ln w="25400">
          <a:noFill/>
        </a:ln>
        <a:effectLst/>
      </c:spPr>
    </c:plotArea>
    <c:plotVisOnly val="1"/>
    <c:dispBlanksAs val="span"/>
    <c:showDLblsOverMax val="1"/>
  </c:chart>
  <c:spPr>
    <a:solidFill>
      <a:srgbClr val="FFFFFF"/>
    </a:solidFill>
    <a:ln>
      <a:noFill/>
    </a:ln>
    <a:effectLst/>
  </c:sp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24242"/>
                </a:solidFill>
                <a:latin typeface="Arial"/>
              </a:defRPr>
            </a:pPr>
            <a:endParaRPr lang="en-US"/>
          </a:p>
        </c:txPr>
        <c:crossAx val="2094734552"/>
        <c:crosses val="autoZero"/>
        <c:auto val="1"/>
        <c:lblAlgn val="ctr"/>
        <c:lblOffset val="100"/>
        <c:noMultiLvlLbl val="1"/>
      </c:catAx>
      <c:valAx>
        <c:axId val="2094734552"/>
        <c:scaling>
          <c:orientation val="minMax"/>
          <c:max val="0.3"/>
          <c:min val="0"/>
        </c:scaling>
        <c:delete val="1"/>
        <c:axPos val="l"/>
        <c:majorGridlines>
          <c:spPr>
            <a:ln w="6350" cap="flat">
              <a:solidFill>
                <a:srgbClr val="E0E0E0"/>
              </a:solidFill>
              <a:prstDash val="solid"/>
              <a:round/>
            </a:ln>
          </c:spPr>
        </c:majorGridlines>
        <c:numFmt formatCode="General" sourceLinked="0"/>
        <c:majorTickMark val="out"/>
        <c:minorTickMark val="none"/>
        <c:tickLblPos val="nextTo"/>
        <c:crossAx val="2094734554"/>
        <c:crosses val="autoZero"/>
        <c:crossBetween val="between"/>
      </c:valAx>
      <c:spPr>
        <a:noFill/>
        <a:ln w="25400">
          <a:noFill/>
        </a:ln>
        <a:effectLst/>
      </c:spPr>
    </c:plotArea>
    <c:plotVisOnly val="1"/>
    <c:dispBlanksAs val="span"/>
    <c:showDLblsOverMax val="1"/>
  </c:chart>
  <c:spPr>
    <a:solidFill>
      <a:srgbClr val="FFFFFF"/>
    </a:solidFill>
    <a:ln>
      <a:noFill/>
    </a:ln>
    <a:effectLst/>
  </c:spPr>
  <c:externalData r:id="rId1">
    <c:autoUpdate val="0"/>
  </c:externalData>
  <c:userShapes r:id="rId2"/>
</c:chartSpace>
</file>

<file path=ppt/drawings/_rels/drawing1.xml.rels><?xml version="1.0" encoding="UTF-8" standalone="yes"?>
<Relationships xmlns="http://schemas.openxmlformats.org/package/2006/relationships"><Relationship Id="rId1" Type="http://schemas.openxmlformats.org/officeDocument/2006/relationships/image" Target="../media/image1.emf"/></Relationships>
</file>

<file path=ppt/drawings/_rels/drawing2.xml.rels><?xml version="1.0" encoding="UTF-8" standalone="yes"?>
<Relationships xmlns="http://schemas.openxmlformats.org/package/2006/relationships"><Relationship Id="rId1" Type="http://schemas.openxmlformats.org/officeDocument/2006/relationships/image" Target="../media/image2.emf"/></Relationships>
</file>

<file path=ppt/drawings/_rels/drawing3.xml.rels><?xml version="1.0" encoding="UTF-8" standalone="yes"?>
<Relationships xmlns="http://schemas.openxmlformats.org/package/2006/relationships"><Relationship Id="rId1" Type="http://schemas.openxmlformats.org/officeDocument/2006/relationships/image" Target="../media/image3.emf"/></Relationships>
</file>

<file path=ppt/drawings/_rels/drawing4.xml.rels><?xml version="1.0" encoding="UTF-8" standalone="yes"?>
<Relationships xmlns="http://schemas.openxmlformats.org/package/2006/relationships"><Relationship Id="rId1" Type="http://schemas.openxmlformats.org/officeDocument/2006/relationships/image" Target="../media/image4.emf"/></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00F024D1-45B0-AD41-8065-DE57845E0B61}"/>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2240280" cy="1490472"/>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0AB8C166-70E3-D747-B9BF-8811237A79AD}"/>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7213600" cy="4292600"/>
        </a:xfrm>
        <a:prstGeom xmlns:a="http://schemas.openxmlformats.org/drawingml/2006/main" prst="rect">
          <a:avLst/>
        </a:prstGeom>
      </cdr:spPr>
    </cdr:pic>
  </cdr:relSizeAnchor>
</c:userShapes>
</file>

<file path=ppt/drawings/drawing3.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8354ADAD-A827-5B41-B771-89141DD120B3}"/>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6299200" cy="4013200"/>
        </a:xfrm>
        <a:prstGeom xmlns:a="http://schemas.openxmlformats.org/drawingml/2006/main" prst="rect">
          <a:avLst/>
        </a:prstGeom>
      </cdr:spPr>
    </cdr:pic>
  </cdr:relSizeAnchor>
</c:userShapes>
</file>

<file path=ppt/drawings/drawing4.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728DB8CE-A59F-3943-B8E3-C851CD9B42ED}"/>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6299200" cy="4013200"/>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5746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emf"/><Relationship Id="rId3" Type="http://schemas.openxmlformats.org/officeDocument/2006/relationships/chart" Target="../charts/chart1.xml"/><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chart" Target="../charts/chart4.xml"/><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chart" Target="../charts/chart3.xml"/><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chart" Target="../charts/chart2.xml"/><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emf"/></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F4F0"/>
        </a:solidFill>
        <a:effectLst/>
      </p:bgPr>
    </p:bg>
    <p:spTree>
      <p:nvGrpSpPr>
        <p:cNvPr id="1" name=""/>
        <p:cNvGrpSpPr/>
        <p:nvPr/>
      </p:nvGrpSpPr>
      <p:grpSpPr>
        <a:xfrm>
          <a:off x="0" y="0"/>
          <a:ext cx="0" cy="0"/>
          <a:chOff x="0" y="0"/>
          <a:chExt cx="0" cy="0"/>
        </a:xfrm>
      </p:grpSpPr>
      <p:sp>
        <p:nvSpPr>
          <p:cNvPr id="13" name="Shape 11"/>
          <p:cNvSpPr/>
          <p:nvPr/>
        </p:nvSpPr>
        <p:spPr>
          <a:xfrm>
            <a:off x="73152" y="1481328"/>
            <a:ext cx="2331720" cy="2240280"/>
          </a:xfrm>
          <a:prstGeom prst="rect">
            <a:avLst/>
          </a:prstGeom>
          <a:solidFill>
            <a:srgbClr val="FFFFFF"/>
          </a:solidFill>
          <a:ln w="12700">
            <a:solidFill>
              <a:srgbClr val="BDBDBD"/>
            </a:solidFill>
            <a:prstDash val="solid"/>
          </a:ln>
        </p:spPr>
      </p:sp>
      <p:sp>
        <p:nvSpPr>
          <p:cNvPr id="14" name="Shape 12"/>
          <p:cNvSpPr/>
          <p:nvPr/>
        </p:nvSpPr>
        <p:spPr>
          <a:xfrm>
            <a:off x="73152" y="1481328"/>
            <a:ext cx="2331720" cy="274320"/>
          </a:xfrm>
          <a:prstGeom prst="rect">
            <a:avLst/>
          </a:prstGeom>
          <a:solidFill>
            <a:srgbClr val="4CAF50"/>
          </a:solidFill>
          <a:ln w="12700">
            <a:solidFill>
              <a:srgbClr val="4CAF50"/>
            </a:solidFill>
            <a:prstDash val="solid"/>
          </a:ln>
        </p:spPr>
      </p:sp>
      <p:sp>
        <p:nvSpPr>
          <p:cNvPr id="15" name="Text 13"/>
          <p:cNvSpPr/>
          <p:nvPr/>
        </p:nvSpPr>
        <p:spPr>
          <a:xfrm>
            <a:off x="225535" y="1499616"/>
            <a:ext cx="2148840" cy="237744"/>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01  MOTIVATION</a:t>
            </a:r>
            <a:endParaRPr lang="en-US" sz="800" dirty="0"/>
          </a:p>
        </p:txBody>
      </p:sp>
      <p:sp>
        <p:nvSpPr>
          <p:cNvPr id="16" name="Text 14"/>
          <p:cNvSpPr/>
          <p:nvPr/>
        </p:nvSpPr>
        <p:spPr>
          <a:xfrm>
            <a:off x="128016" y="1801368"/>
            <a:ext cx="2212848" cy="777240"/>
          </a:xfrm>
          <a:prstGeom prst="rect">
            <a:avLst/>
          </a:prstGeom>
          <a:noFill/>
          <a:ln/>
        </p:spPr>
        <p:txBody>
          <a:bodyPr wrap="square" rtlCol="0" anchor="t"/>
          <a:lstStyle/>
          <a:p>
            <a:pPr marL="0" indent="0">
              <a:buNone/>
            </a:pPr>
            <a:r>
              <a:rPr lang="en-US" sz="650" dirty="0">
                <a:solidFill>
                  <a:srgbClr val="424242"/>
                </a:solidFill>
                <a:latin typeface="Arial" pitchFamily="34" charset="0"/>
                <a:ea typeface="Arial" pitchFamily="34" charset="-122"/>
                <a:cs typeface="Arial" pitchFamily="34" charset="-120"/>
              </a:rPr>
              <a:t>AI models are increasingly used in critical decision-making across finance, healthcare, insurance, recruitment and other sectors. However, these models can introduce risks related to bias, lack of transparency, performance degradation, drift, and regulatory non-compliance.</a:t>
            </a:r>
            <a:endParaRPr lang="en-US" sz="650" dirty="0"/>
          </a:p>
        </p:txBody>
      </p:sp>
      <p:sp>
        <p:nvSpPr>
          <p:cNvPr id="17" name="Shape 15"/>
          <p:cNvSpPr/>
          <p:nvPr/>
        </p:nvSpPr>
        <p:spPr>
          <a:xfrm>
            <a:off x="128016" y="2633472"/>
            <a:ext cx="2212848" cy="658368"/>
          </a:xfrm>
          <a:prstGeom prst="rect">
            <a:avLst/>
          </a:prstGeom>
          <a:solidFill>
            <a:srgbClr val="F1F8F1"/>
          </a:solidFill>
          <a:ln w="12700">
            <a:solidFill>
              <a:srgbClr val="4CAF50"/>
            </a:solidFill>
            <a:prstDash val="solid"/>
          </a:ln>
        </p:spPr>
      </p:sp>
      <p:sp>
        <p:nvSpPr>
          <p:cNvPr id="18" name="Text 16"/>
          <p:cNvSpPr/>
          <p:nvPr/>
        </p:nvSpPr>
        <p:spPr>
          <a:xfrm>
            <a:off x="292608" y="2662864"/>
            <a:ext cx="2103120" cy="585216"/>
          </a:xfrm>
          <a:prstGeom prst="rect">
            <a:avLst/>
          </a:prstGeom>
          <a:noFill/>
          <a:ln/>
        </p:spPr>
        <p:txBody>
          <a:bodyPr wrap="square" rtlCol="0" anchor="t"/>
          <a:lstStyle/>
          <a:p>
            <a:pPr marL="0" indent="0">
              <a:buNone/>
            </a:pPr>
            <a:r>
              <a:rPr lang="en-US" sz="600" b="1" dirty="0">
                <a:solidFill>
                  <a:srgbClr val="424242"/>
                </a:solidFill>
                <a:latin typeface="Arial" pitchFamily="34" charset="0"/>
                <a:ea typeface="Arial" pitchFamily="34" charset="-122"/>
                <a:cs typeface="Arial" pitchFamily="34" charset="-120"/>
              </a:rPr>
              <a:t>Goal
</a:t>
            </a:r>
            <a:r>
              <a:rPr lang="en-US" sz="600" dirty="0">
                <a:solidFill>
                  <a:srgbClr val="424242"/>
                </a:solidFill>
                <a:latin typeface="Arial" pitchFamily="34" charset="0"/>
                <a:ea typeface="Arial" pitchFamily="34" charset="-122"/>
                <a:cs typeface="Arial" pitchFamily="34" charset="-120"/>
              </a:rPr>
              <a:t>Develop a Responsible AI Dashboard that continuously monitors model risk, fairness, explainability, drift and governance indicators to ensure trustworthy and accountable AI.</a:t>
            </a:r>
            <a:endParaRPr lang="en-US" sz="600" dirty="0"/>
          </a:p>
        </p:txBody>
      </p:sp>
      <p:sp>
        <p:nvSpPr>
          <p:cNvPr id="19" name="Shape 17"/>
          <p:cNvSpPr/>
          <p:nvPr/>
        </p:nvSpPr>
        <p:spPr>
          <a:xfrm>
            <a:off x="2514600" y="1481328"/>
            <a:ext cx="2697480" cy="2240280"/>
          </a:xfrm>
          <a:prstGeom prst="rect">
            <a:avLst/>
          </a:prstGeom>
          <a:solidFill>
            <a:srgbClr val="FFFFFF"/>
          </a:solidFill>
          <a:ln w="12700">
            <a:solidFill>
              <a:srgbClr val="BDBDBD"/>
            </a:solidFill>
            <a:prstDash val="solid"/>
          </a:ln>
        </p:spPr>
        <p:txBody>
          <a:bodyPr/>
          <a:lstStyle/>
          <a:p>
            <a:endParaRPr lang="en-US" dirty="0"/>
          </a:p>
          <a:p>
            <a:r>
              <a:rPr lang="en-US" dirty="0"/>
              <a:t>	</a:t>
            </a:r>
            <a:endParaRPr lang="en-US" sz="650" dirty="0"/>
          </a:p>
          <a:p>
            <a:pPr marL="171450" indent="-171450">
              <a:buFont typeface="Arial" panose="020B0604020202020204" pitchFamily="34" charset="0"/>
              <a:buChar char="•"/>
            </a:pPr>
            <a:r>
              <a:rPr lang="en-US" sz="650" dirty="0">
                <a:solidFill>
                  <a:schemeClr val="tx1">
                    <a:lumMod val="75000"/>
                    <a:lumOff val="25000"/>
                  </a:schemeClr>
                </a:solidFill>
                <a:latin typeface="Arial" panose="020B0604020202020204" pitchFamily="34" charset="0"/>
                <a:cs typeface="Arial" panose="020B0604020202020204" pitchFamily="34" charset="0"/>
              </a:rPr>
              <a:t>Cybersecurity Intrusion Detection Dataset</a:t>
            </a:r>
          </a:p>
          <a:p>
            <a:pPr marL="171450" indent="-171450">
              <a:buFont typeface="Arial" panose="020B0604020202020204" pitchFamily="34" charset="0"/>
              <a:buChar char="•"/>
            </a:pPr>
            <a:endParaRPr lang="en-US" sz="650" dirty="0">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solidFill>
                  <a:schemeClr val="tx1">
                    <a:lumMod val="75000"/>
                    <a:lumOff val="25000"/>
                  </a:schemeClr>
                </a:solidFill>
                <a:latin typeface="Arial" panose="020B0604020202020204" pitchFamily="34" charset="0"/>
                <a:cs typeface="Arial" panose="020B0604020202020204" pitchFamily="34" charset="0"/>
              </a:rPr>
              <a:t>Network traffic features</a:t>
            </a:r>
          </a:p>
          <a:p>
            <a:pPr marL="171450" indent="-171450">
              <a:buFont typeface="Arial" panose="020B0604020202020204" pitchFamily="34" charset="0"/>
              <a:buChar char="•"/>
            </a:pPr>
            <a:endParaRPr lang="en-US" sz="650" dirty="0">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solidFill>
                  <a:schemeClr val="tx1">
                    <a:lumMod val="75000"/>
                    <a:lumOff val="25000"/>
                  </a:schemeClr>
                </a:solidFill>
                <a:latin typeface="Arial" panose="020B0604020202020204" pitchFamily="34" charset="0"/>
                <a:cs typeface="Arial" panose="020B0604020202020204" pitchFamily="34" charset="0"/>
              </a:rPr>
              <a:t>Attack detection labels</a:t>
            </a:r>
          </a:p>
          <a:p>
            <a:endParaRPr lang="en-US" sz="650" dirty="0">
              <a:solidFill>
                <a:schemeClr val="tx1">
                  <a:lumMod val="75000"/>
                  <a:lumOff val="25000"/>
                </a:schemeClr>
              </a:solidFill>
              <a:latin typeface="Arial" panose="020B0604020202020204" pitchFamily="34" charset="0"/>
              <a:cs typeface="Arial" panose="020B0604020202020204" pitchFamily="34" charset="0"/>
            </a:endParaRPr>
          </a:p>
          <a:p>
            <a:r>
              <a:rPr lang="en-US" sz="650" b="1" dirty="0">
                <a:solidFill>
                  <a:schemeClr val="accent6">
                    <a:lumMod val="50000"/>
                  </a:schemeClr>
                </a:solidFill>
                <a:latin typeface="Arial" panose="020B0604020202020204" pitchFamily="34" charset="0"/>
                <a:cs typeface="Arial" panose="020B0604020202020204" pitchFamily="34" charset="0"/>
              </a:rPr>
              <a:t>              </a:t>
            </a:r>
          </a:p>
          <a:p>
            <a:r>
              <a:rPr lang="en-US" sz="650" b="1" dirty="0">
                <a:solidFill>
                  <a:schemeClr val="accent6">
                    <a:lumMod val="50000"/>
                  </a:schemeClr>
                </a:solidFill>
                <a:latin typeface="Arial" panose="020B0604020202020204" pitchFamily="34" charset="0"/>
                <a:cs typeface="Arial" panose="020B0604020202020204" pitchFamily="34" charset="0"/>
              </a:rPr>
              <a:t>               Sustainability / Environmental Dataset</a:t>
            </a:r>
          </a:p>
          <a:p>
            <a:endParaRPr lang="en-US" sz="650" dirty="0">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solidFill>
                  <a:schemeClr val="tx1">
                    <a:lumMod val="75000"/>
                    <a:lumOff val="25000"/>
                  </a:schemeClr>
                </a:solidFill>
                <a:latin typeface="Arial" panose="020B0604020202020204" pitchFamily="34" charset="0"/>
                <a:cs typeface="Arial" panose="020B0604020202020204" pitchFamily="34" charset="0"/>
              </a:rPr>
              <a:t>Sustainability &amp; Environmental Indicators Dataset</a:t>
            </a:r>
          </a:p>
          <a:p>
            <a:pPr marL="171450" indent="-171450">
              <a:buFont typeface="Arial" panose="020B0604020202020204" pitchFamily="34" charset="0"/>
              <a:buChar char="•"/>
            </a:pPr>
            <a:endParaRPr lang="en-US" sz="650" dirty="0">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solidFill>
                  <a:schemeClr val="tx1">
                    <a:lumMod val="75000"/>
                    <a:lumOff val="25000"/>
                  </a:schemeClr>
                </a:solidFill>
                <a:latin typeface="Arial" panose="020B0604020202020204" pitchFamily="34" charset="0"/>
                <a:cs typeface="Arial" panose="020B0604020202020204" pitchFamily="34" charset="0"/>
              </a:rPr>
              <a:t>CO₂ Emissions </a:t>
            </a:r>
          </a:p>
          <a:p>
            <a:pPr marL="171450" indent="-171450">
              <a:buFont typeface="Arial" panose="020B0604020202020204" pitchFamily="34" charset="0"/>
              <a:buChar char="•"/>
            </a:pPr>
            <a:endParaRPr lang="en-US" sz="650" dirty="0">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solidFill>
                  <a:schemeClr val="tx1">
                    <a:lumMod val="75000"/>
                    <a:lumOff val="25000"/>
                  </a:schemeClr>
                </a:solidFill>
                <a:latin typeface="Arial" panose="020B0604020202020204" pitchFamily="34" charset="0"/>
                <a:cs typeface="Arial" panose="020B0604020202020204" pitchFamily="34" charset="0"/>
              </a:rPr>
              <a:t>Renewable Energy &amp; Economic Indicators</a:t>
            </a:r>
          </a:p>
          <a:p>
            <a:r>
              <a:rPr lang="en-US" dirty="0"/>
              <a:t>	</a:t>
            </a:r>
          </a:p>
          <a:p>
            <a:endParaRPr lang="en-US" sz="650" dirty="0"/>
          </a:p>
          <a:p>
            <a:endParaRPr lang="en-US" dirty="0"/>
          </a:p>
          <a:p>
            <a:endParaRPr lang="en-US" dirty="0"/>
          </a:p>
        </p:txBody>
      </p:sp>
      <p:sp>
        <p:nvSpPr>
          <p:cNvPr id="20" name="Shape 18"/>
          <p:cNvSpPr/>
          <p:nvPr/>
        </p:nvSpPr>
        <p:spPr>
          <a:xfrm>
            <a:off x="2514600" y="1481328"/>
            <a:ext cx="2697480" cy="274320"/>
          </a:xfrm>
          <a:prstGeom prst="rect">
            <a:avLst/>
          </a:prstGeom>
          <a:solidFill>
            <a:srgbClr val="1A5C38"/>
          </a:solidFill>
          <a:ln w="12700">
            <a:solidFill>
              <a:srgbClr val="1A5C38"/>
            </a:solidFill>
            <a:prstDash val="solid"/>
          </a:ln>
        </p:spPr>
      </p:sp>
      <p:sp>
        <p:nvSpPr>
          <p:cNvPr id="21" name="Text 19"/>
          <p:cNvSpPr/>
          <p:nvPr/>
        </p:nvSpPr>
        <p:spPr>
          <a:xfrm>
            <a:off x="2715768" y="1497975"/>
            <a:ext cx="2514600" cy="237744"/>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DATASETS</a:t>
            </a:r>
            <a:endParaRPr lang="en-US" sz="800" dirty="0"/>
          </a:p>
        </p:txBody>
      </p:sp>
      <p:sp>
        <p:nvSpPr>
          <p:cNvPr id="22" name="Text 20"/>
          <p:cNvSpPr/>
          <p:nvPr/>
        </p:nvSpPr>
        <p:spPr>
          <a:xfrm>
            <a:off x="2834640" y="1810512"/>
            <a:ext cx="2331720" cy="164592"/>
          </a:xfrm>
          <a:prstGeom prst="rect">
            <a:avLst/>
          </a:prstGeom>
          <a:noFill/>
          <a:ln/>
        </p:spPr>
        <p:txBody>
          <a:bodyPr wrap="square" rtlCol="0" anchor="ctr"/>
          <a:lstStyle/>
          <a:p>
            <a:pPr marL="0" indent="0">
              <a:buNone/>
            </a:pPr>
            <a:r>
              <a:rPr lang="en-US" sz="650" b="1" dirty="0">
                <a:solidFill>
                  <a:schemeClr val="accent6">
                    <a:lumMod val="50000"/>
                  </a:schemeClr>
                </a:solidFill>
                <a:latin typeface="Arial" panose="020B0604020202020204" pitchFamily="34" charset="0"/>
                <a:cs typeface="Arial" panose="020B0604020202020204" pitchFamily="34" charset="0"/>
              </a:rPr>
              <a:t>Cybersecurity Intrusion Dataset</a:t>
            </a:r>
          </a:p>
        </p:txBody>
      </p:sp>
      <p:sp>
        <p:nvSpPr>
          <p:cNvPr id="26" name="Text 24"/>
          <p:cNvSpPr/>
          <p:nvPr/>
        </p:nvSpPr>
        <p:spPr>
          <a:xfrm>
            <a:off x="2834640" y="2395728"/>
            <a:ext cx="2331720" cy="164592"/>
          </a:xfrm>
          <a:prstGeom prst="rect">
            <a:avLst/>
          </a:prstGeom>
          <a:noFill/>
          <a:ln/>
        </p:spPr>
        <p:txBody>
          <a:bodyPr wrap="square" rtlCol="0" anchor="ctr"/>
          <a:lstStyle/>
          <a:p>
            <a:pPr marL="0" indent="0">
              <a:buNone/>
            </a:pPr>
            <a:endParaRPr lang="en-US" sz="650" dirty="0">
              <a:solidFill>
                <a:schemeClr val="accent6">
                  <a:lumMod val="50000"/>
                </a:schemeClr>
              </a:solidFill>
            </a:endParaRPr>
          </a:p>
        </p:txBody>
      </p:sp>
      <p:sp>
        <p:nvSpPr>
          <p:cNvPr id="34" name="Text 32"/>
          <p:cNvSpPr/>
          <p:nvPr/>
        </p:nvSpPr>
        <p:spPr>
          <a:xfrm>
            <a:off x="2606040" y="3538728"/>
            <a:ext cx="2514600" cy="146304"/>
          </a:xfrm>
          <a:prstGeom prst="rect">
            <a:avLst/>
          </a:prstGeom>
          <a:noFill/>
          <a:ln/>
        </p:spPr>
        <p:txBody>
          <a:bodyPr wrap="square" rtlCol="0" anchor="ctr"/>
          <a:lstStyle/>
          <a:p>
            <a:pPr marL="0" indent="0">
              <a:buNone/>
            </a:pPr>
            <a:r>
              <a:rPr lang="en-US" sz="550" i="1" dirty="0">
                <a:solidFill>
                  <a:srgbClr val="757575"/>
                </a:solidFill>
                <a:latin typeface="Arial" pitchFamily="34" charset="0"/>
                <a:ea typeface="Arial" pitchFamily="34" charset="-122"/>
                <a:cs typeface="Arial" pitchFamily="34" charset="-120"/>
              </a:rPr>
              <a:t>All datasets are publicly available for research purposes.</a:t>
            </a:r>
            <a:endParaRPr lang="en-US" sz="550" dirty="0"/>
          </a:p>
        </p:txBody>
      </p:sp>
      <p:sp>
        <p:nvSpPr>
          <p:cNvPr id="35" name="Shape 33"/>
          <p:cNvSpPr/>
          <p:nvPr/>
        </p:nvSpPr>
        <p:spPr>
          <a:xfrm>
            <a:off x="5321808" y="1481328"/>
            <a:ext cx="3931920" cy="2240280"/>
          </a:xfrm>
          <a:prstGeom prst="rect">
            <a:avLst/>
          </a:prstGeom>
          <a:solidFill>
            <a:srgbClr val="FFFFFF"/>
          </a:solidFill>
          <a:ln w="12700">
            <a:solidFill>
              <a:srgbClr val="BDBDBD"/>
            </a:solidFill>
            <a:prstDash val="solid"/>
          </a:ln>
        </p:spPr>
      </p:sp>
      <p:sp>
        <p:nvSpPr>
          <p:cNvPr id="36" name="Shape 34"/>
          <p:cNvSpPr/>
          <p:nvPr/>
        </p:nvSpPr>
        <p:spPr>
          <a:xfrm>
            <a:off x="5321808" y="1481328"/>
            <a:ext cx="3931920" cy="274320"/>
          </a:xfrm>
          <a:prstGeom prst="rect">
            <a:avLst/>
          </a:prstGeom>
          <a:solidFill>
            <a:srgbClr val="1A5C38"/>
          </a:solidFill>
          <a:ln w="12700">
            <a:solidFill>
              <a:srgbClr val="1A5C38"/>
            </a:solidFill>
            <a:prstDash val="solid"/>
          </a:ln>
        </p:spPr>
      </p:sp>
      <p:sp>
        <p:nvSpPr>
          <p:cNvPr id="37" name="Text 35"/>
          <p:cNvSpPr/>
          <p:nvPr/>
        </p:nvSpPr>
        <p:spPr>
          <a:xfrm>
            <a:off x="5504371" y="1494191"/>
            <a:ext cx="3749040" cy="237744"/>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METHODOLOGY WORKFLOW</a:t>
            </a:r>
            <a:endParaRPr lang="en-US" sz="800" dirty="0"/>
          </a:p>
        </p:txBody>
      </p:sp>
      <p:sp>
        <p:nvSpPr>
          <p:cNvPr id="38" name="Shape 36"/>
          <p:cNvSpPr/>
          <p:nvPr/>
        </p:nvSpPr>
        <p:spPr>
          <a:xfrm>
            <a:off x="5413248" y="1828800"/>
            <a:ext cx="201168" cy="201168"/>
          </a:xfrm>
          <a:prstGeom prst="ellipse">
            <a:avLst/>
          </a:prstGeom>
          <a:solidFill>
            <a:srgbClr val="1A5C38"/>
          </a:solidFill>
          <a:ln w="12700">
            <a:solidFill>
              <a:srgbClr val="1A5C38"/>
            </a:solidFill>
            <a:prstDash val="solid"/>
          </a:ln>
        </p:spPr>
      </p:sp>
      <p:sp>
        <p:nvSpPr>
          <p:cNvPr id="39" name="Text 37"/>
          <p:cNvSpPr/>
          <p:nvPr/>
        </p:nvSpPr>
        <p:spPr>
          <a:xfrm>
            <a:off x="5413248" y="1828800"/>
            <a:ext cx="201168" cy="201168"/>
          </a:xfrm>
          <a:prstGeom prst="rect">
            <a:avLst/>
          </a:prstGeom>
          <a:noFill/>
          <a:ln/>
        </p:spPr>
        <p:txBody>
          <a:bodyPr wrap="square" rtlCol="0" anchor="ctr"/>
          <a:lstStyle/>
          <a:p>
            <a:pPr marL="0" indent="0" algn="ctr">
              <a:buNone/>
            </a:pPr>
            <a:r>
              <a:rPr lang="en-US" sz="600" b="1" dirty="0">
                <a:solidFill>
                  <a:srgbClr val="FFFFFF"/>
                </a:solidFill>
              </a:rPr>
              <a:t>1</a:t>
            </a:r>
            <a:endParaRPr lang="en-US" sz="600" dirty="0"/>
          </a:p>
        </p:txBody>
      </p:sp>
      <p:sp>
        <p:nvSpPr>
          <p:cNvPr id="40" name="Text 38"/>
          <p:cNvSpPr/>
          <p:nvPr/>
        </p:nvSpPr>
        <p:spPr>
          <a:xfrm>
            <a:off x="5669280" y="1828800"/>
            <a:ext cx="1737360" cy="137160"/>
          </a:xfrm>
          <a:prstGeom prst="rect">
            <a:avLst/>
          </a:prstGeom>
          <a:noFill/>
          <a:ln/>
        </p:spPr>
        <p:txBody>
          <a:bodyPr wrap="square" rtlCol="0" anchor="ctr"/>
          <a:lstStyle/>
          <a:p>
            <a:pPr marL="0" indent="0">
              <a:buNone/>
            </a:pPr>
            <a:r>
              <a:rPr lang="en-US" sz="620" b="1" dirty="0">
                <a:solidFill>
                  <a:srgbClr val="212121"/>
                </a:solidFill>
                <a:latin typeface="Arial" pitchFamily="34" charset="0"/>
                <a:ea typeface="Arial" pitchFamily="34" charset="-122"/>
                <a:cs typeface="Arial" pitchFamily="34" charset="-120"/>
              </a:rPr>
              <a:t>Data Collection</a:t>
            </a:r>
            <a:endParaRPr lang="en-US" sz="620" dirty="0"/>
          </a:p>
        </p:txBody>
      </p:sp>
      <p:sp>
        <p:nvSpPr>
          <p:cNvPr id="41" name="Text 39"/>
          <p:cNvSpPr/>
          <p:nvPr/>
        </p:nvSpPr>
        <p:spPr>
          <a:xfrm>
            <a:off x="5669280" y="1965960"/>
            <a:ext cx="1737360" cy="182880"/>
          </a:xfrm>
          <a:prstGeom prst="rect">
            <a:avLst/>
          </a:prstGeom>
          <a:noFill/>
          <a:ln/>
        </p:spPr>
        <p:txBody>
          <a:bodyPr wrap="square" rtlCol="0" anchor="ctr"/>
          <a:lstStyle/>
          <a:p>
            <a:pPr marL="0" indent="0">
              <a:buNone/>
            </a:pPr>
            <a:r>
              <a:rPr lang="en-US" sz="550" dirty="0">
                <a:solidFill>
                  <a:srgbClr val="424242"/>
                </a:solidFill>
                <a:latin typeface="Arial" pitchFamily="34" charset="0"/>
                <a:ea typeface="Arial" pitchFamily="34" charset="-122"/>
                <a:cs typeface="Arial" pitchFamily="34" charset="-120"/>
              </a:rPr>
              <a:t>Collect data from public sources and repositories.</a:t>
            </a:r>
            <a:endParaRPr lang="en-US" sz="550" dirty="0"/>
          </a:p>
        </p:txBody>
      </p:sp>
      <p:sp>
        <p:nvSpPr>
          <p:cNvPr id="42" name="Shape 40"/>
          <p:cNvSpPr/>
          <p:nvPr/>
        </p:nvSpPr>
        <p:spPr>
          <a:xfrm>
            <a:off x="5413248" y="2194560"/>
            <a:ext cx="201168" cy="201168"/>
          </a:xfrm>
          <a:prstGeom prst="ellipse">
            <a:avLst/>
          </a:prstGeom>
          <a:solidFill>
            <a:srgbClr val="1A5C38"/>
          </a:solidFill>
          <a:ln w="12700">
            <a:solidFill>
              <a:srgbClr val="1A5C38"/>
            </a:solidFill>
            <a:prstDash val="solid"/>
          </a:ln>
        </p:spPr>
      </p:sp>
      <p:sp>
        <p:nvSpPr>
          <p:cNvPr id="43" name="Text 41"/>
          <p:cNvSpPr/>
          <p:nvPr/>
        </p:nvSpPr>
        <p:spPr>
          <a:xfrm>
            <a:off x="5413248" y="2194560"/>
            <a:ext cx="201168" cy="201168"/>
          </a:xfrm>
          <a:prstGeom prst="rect">
            <a:avLst/>
          </a:prstGeom>
          <a:noFill/>
          <a:ln/>
        </p:spPr>
        <p:txBody>
          <a:bodyPr wrap="square" rtlCol="0" anchor="ctr"/>
          <a:lstStyle/>
          <a:p>
            <a:pPr marL="0" indent="0" algn="ctr">
              <a:buNone/>
            </a:pPr>
            <a:r>
              <a:rPr lang="en-US" sz="600" b="1" dirty="0">
                <a:solidFill>
                  <a:srgbClr val="FFFFFF"/>
                </a:solidFill>
              </a:rPr>
              <a:t>2</a:t>
            </a:r>
            <a:endParaRPr lang="en-US" sz="600" dirty="0"/>
          </a:p>
        </p:txBody>
      </p:sp>
      <p:sp>
        <p:nvSpPr>
          <p:cNvPr id="44" name="Text 42"/>
          <p:cNvSpPr/>
          <p:nvPr/>
        </p:nvSpPr>
        <p:spPr>
          <a:xfrm>
            <a:off x="5669280" y="2194560"/>
            <a:ext cx="1737360" cy="137160"/>
          </a:xfrm>
          <a:prstGeom prst="rect">
            <a:avLst/>
          </a:prstGeom>
          <a:noFill/>
          <a:ln/>
        </p:spPr>
        <p:txBody>
          <a:bodyPr wrap="square" rtlCol="0" anchor="ctr"/>
          <a:lstStyle/>
          <a:p>
            <a:pPr marL="0" indent="0">
              <a:buNone/>
            </a:pPr>
            <a:r>
              <a:rPr lang="en-US" sz="620" b="1" dirty="0">
                <a:solidFill>
                  <a:srgbClr val="212121"/>
                </a:solidFill>
                <a:latin typeface="Arial" pitchFamily="34" charset="0"/>
                <a:ea typeface="Arial" pitchFamily="34" charset="-122"/>
                <a:cs typeface="Arial" pitchFamily="34" charset="-120"/>
              </a:rPr>
              <a:t>Data Cleaning &amp; Preprocessing</a:t>
            </a:r>
            <a:endParaRPr lang="en-US" sz="620" dirty="0"/>
          </a:p>
        </p:txBody>
      </p:sp>
      <p:sp>
        <p:nvSpPr>
          <p:cNvPr id="45" name="Text 43"/>
          <p:cNvSpPr/>
          <p:nvPr/>
        </p:nvSpPr>
        <p:spPr>
          <a:xfrm>
            <a:off x="5669280" y="2331720"/>
            <a:ext cx="1737360" cy="182880"/>
          </a:xfrm>
          <a:prstGeom prst="rect">
            <a:avLst/>
          </a:prstGeom>
          <a:noFill/>
          <a:ln/>
        </p:spPr>
        <p:txBody>
          <a:bodyPr wrap="square" rtlCol="0" anchor="ctr"/>
          <a:lstStyle/>
          <a:p>
            <a:pPr marL="0" indent="0">
              <a:buNone/>
            </a:pPr>
            <a:r>
              <a:rPr lang="en-US" sz="550" dirty="0">
                <a:solidFill>
                  <a:srgbClr val="424242"/>
                </a:solidFill>
                <a:latin typeface="Arial" pitchFamily="34" charset="0"/>
                <a:ea typeface="Arial" pitchFamily="34" charset="-122"/>
                <a:cs typeface="Arial" pitchFamily="34" charset="-120"/>
              </a:rPr>
              <a:t>Handle missing values, outliers and encode categorical variables.</a:t>
            </a:r>
            <a:endParaRPr lang="en-US" sz="550" dirty="0"/>
          </a:p>
        </p:txBody>
      </p:sp>
      <p:sp>
        <p:nvSpPr>
          <p:cNvPr id="46" name="Shape 44"/>
          <p:cNvSpPr/>
          <p:nvPr/>
        </p:nvSpPr>
        <p:spPr>
          <a:xfrm>
            <a:off x="5413248" y="2560320"/>
            <a:ext cx="201168" cy="201168"/>
          </a:xfrm>
          <a:prstGeom prst="ellipse">
            <a:avLst/>
          </a:prstGeom>
          <a:solidFill>
            <a:srgbClr val="1A5C38"/>
          </a:solidFill>
          <a:ln w="12700">
            <a:solidFill>
              <a:srgbClr val="1A5C38"/>
            </a:solidFill>
            <a:prstDash val="solid"/>
          </a:ln>
        </p:spPr>
      </p:sp>
      <p:sp>
        <p:nvSpPr>
          <p:cNvPr id="47" name="Text 45"/>
          <p:cNvSpPr/>
          <p:nvPr/>
        </p:nvSpPr>
        <p:spPr>
          <a:xfrm>
            <a:off x="5413248" y="2560320"/>
            <a:ext cx="201168" cy="201168"/>
          </a:xfrm>
          <a:prstGeom prst="rect">
            <a:avLst/>
          </a:prstGeom>
          <a:noFill/>
          <a:ln/>
        </p:spPr>
        <p:txBody>
          <a:bodyPr wrap="square" rtlCol="0" anchor="ctr"/>
          <a:lstStyle/>
          <a:p>
            <a:pPr marL="0" indent="0" algn="ctr">
              <a:buNone/>
            </a:pPr>
            <a:r>
              <a:rPr lang="en-US" sz="600" b="1" dirty="0">
                <a:solidFill>
                  <a:srgbClr val="FFFFFF"/>
                </a:solidFill>
              </a:rPr>
              <a:t>3</a:t>
            </a:r>
            <a:endParaRPr lang="en-US" sz="600" dirty="0"/>
          </a:p>
        </p:txBody>
      </p:sp>
      <p:sp>
        <p:nvSpPr>
          <p:cNvPr id="48" name="Text 46"/>
          <p:cNvSpPr/>
          <p:nvPr/>
        </p:nvSpPr>
        <p:spPr>
          <a:xfrm>
            <a:off x="5669280" y="2560320"/>
            <a:ext cx="1737360" cy="137160"/>
          </a:xfrm>
          <a:prstGeom prst="rect">
            <a:avLst/>
          </a:prstGeom>
          <a:noFill/>
          <a:ln/>
        </p:spPr>
        <p:txBody>
          <a:bodyPr wrap="square" rtlCol="0" anchor="ctr"/>
          <a:lstStyle/>
          <a:p>
            <a:pPr marL="0" indent="0">
              <a:buNone/>
            </a:pPr>
            <a:r>
              <a:rPr lang="en-US" sz="620" b="1" dirty="0">
                <a:solidFill>
                  <a:srgbClr val="212121"/>
                </a:solidFill>
                <a:latin typeface="Arial" pitchFamily="34" charset="0"/>
                <a:ea typeface="Arial" pitchFamily="34" charset="-122"/>
                <a:cs typeface="Arial" pitchFamily="34" charset="-120"/>
              </a:rPr>
              <a:t>Feature Engineering</a:t>
            </a:r>
            <a:endParaRPr lang="en-US" sz="620" dirty="0"/>
          </a:p>
        </p:txBody>
      </p:sp>
      <p:sp>
        <p:nvSpPr>
          <p:cNvPr id="49" name="Text 47"/>
          <p:cNvSpPr/>
          <p:nvPr/>
        </p:nvSpPr>
        <p:spPr>
          <a:xfrm>
            <a:off x="5669280" y="2697480"/>
            <a:ext cx="1737360" cy="182880"/>
          </a:xfrm>
          <a:prstGeom prst="rect">
            <a:avLst/>
          </a:prstGeom>
          <a:noFill/>
          <a:ln/>
        </p:spPr>
        <p:txBody>
          <a:bodyPr wrap="square" rtlCol="0" anchor="ctr"/>
          <a:lstStyle/>
          <a:p>
            <a:pPr marL="0" indent="0">
              <a:buNone/>
            </a:pPr>
            <a:r>
              <a:rPr lang="en-US" sz="550" dirty="0">
                <a:solidFill>
                  <a:srgbClr val="424242"/>
                </a:solidFill>
                <a:latin typeface="Arial" pitchFamily="34" charset="0"/>
                <a:ea typeface="Arial" pitchFamily="34" charset="-122"/>
                <a:cs typeface="Arial" pitchFamily="34" charset="-120"/>
              </a:rPr>
              <a:t>Create meaningful features to improve model performance.</a:t>
            </a:r>
            <a:endParaRPr lang="en-US" sz="550" dirty="0"/>
          </a:p>
        </p:txBody>
      </p:sp>
      <p:sp>
        <p:nvSpPr>
          <p:cNvPr id="50" name="Shape 48"/>
          <p:cNvSpPr/>
          <p:nvPr/>
        </p:nvSpPr>
        <p:spPr>
          <a:xfrm>
            <a:off x="5413248" y="2926080"/>
            <a:ext cx="201168" cy="201168"/>
          </a:xfrm>
          <a:prstGeom prst="ellipse">
            <a:avLst/>
          </a:prstGeom>
          <a:solidFill>
            <a:srgbClr val="1A5C38"/>
          </a:solidFill>
          <a:ln w="12700">
            <a:solidFill>
              <a:srgbClr val="1A5C38"/>
            </a:solidFill>
            <a:prstDash val="solid"/>
          </a:ln>
        </p:spPr>
      </p:sp>
      <p:sp>
        <p:nvSpPr>
          <p:cNvPr id="51" name="Text 49"/>
          <p:cNvSpPr/>
          <p:nvPr/>
        </p:nvSpPr>
        <p:spPr>
          <a:xfrm>
            <a:off x="5413248" y="2926080"/>
            <a:ext cx="201168" cy="201168"/>
          </a:xfrm>
          <a:prstGeom prst="rect">
            <a:avLst/>
          </a:prstGeom>
          <a:noFill/>
          <a:ln/>
        </p:spPr>
        <p:txBody>
          <a:bodyPr wrap="square" rtlCol="0" anchor="ctr"/>
          <a:lstStyle/>
          <a:p>
            <a:pPr marL="0" indent="0" algn="ctr">
              <a:buNone/>
            </a:pPr>
            <a:r>
              <a:rPr lang="en-US" sz="600" b="1" dirty="0">
                <a:solidFill>
                  <a:srgbClr val="FFFFFF"/>
                </a:solidFill>
              </a:rPr>
              <a:t>4</a:t>
            </a:r>
            <a:endParaRPr lang="en-US" sz="600" dirty="0"/>
          </a:p>
        </p:txBody>
      </p:sp>
      <p:sp>
        <p:nvSpPr>
          <p:cNvPr id="52" name="Text 50"/>
          <p:cNvSpPr/>
          <p:nvPr/>
        </p:nvSpPr>
        <p:spPr>
          <a:xfrm>
            <a:off x="5669280" y="2926080"/>
            <a:ext cx="1737360" cy="137160"/>
          </a:xfrm>
          <a:prstGeom prst="rect">
            <a:avLst/>
          </a:prstGeom>
          <a:noFill/>
          <a:ln/>
        </p:spPr>
        <p:txBody>
          <a:bodyPr wrap="square" rtlCol="0" anchor="ctr"/>
          <a:lstStyle/>
          <a:p>
            <a:pPr marL="0" indent="0">
              <a:buNone/>
            </a:pPr>
            <a:r>
              <a:rPr lang="en-US" sz="620" b="1" dirty="0">
                <a:solidFill>
                  <a:srgbClr val="212121"/>
                </a:solidFill>
                <a:latin typeface="Arial" pitchFamily="34" charset="0"/>
                <a:ea typeface="Arial" pitchFamily="34" charset="-122"/>
                <a:cs typeface="Arial" pitchFamily="34" charset="-120"/>
              </a:rPr>
              <a:t>Model Training</a:t>
            </a:r>
            <a:endParaRPr lang="en-US" sz="620" dirty="0"/>
          </a:p>
        </p:txBody>
      </p:sp>
      <p:sp>
        <p:nvSpPr>
          <p:cNvPr id="53" name="Text 51"/>
          <p:cNvSpPr/>
          <p:nvPr/>
        </p:nvSpPr>
        <p:spPr>
          <a:xfrm>
            <a:off x="5669280" y="3063240"/>
            <a:ext cx="1737360" cy="182880"/>
          </a:xfrm>
          <a:prstGeom prst="rect">
            <a:avLst/>
          </a:prstGeom>
          <a:noFill/>
          <a:ln/>
        </p:spPr>
        <p:txBody>
          <a:bodyPr wrap="square" rtlCol="0" anchor="ctr"/>
          <a:lstStyle/>
          <a:p>
            <a:pPr marL="0" indent="0">
              <a:buNone/>
            </a:pPr>
            <a:r>
              <a:rPr lang="en-US" sz="550" dirty="0">
                <a:solidFill>
                  <a:srgbClr val="424242"/>
                </a:solidFill>
                <a:latin typeface="Arial" pitchFamily="34" charset="0"/>
                <a:ea typeface="Arial" pitchFamily="34" charset="-122"/>
                <a:cs typeface="Arial" pitchFamily="34" charset="-120"/>
              </a:rPr>
              <a:t>Train ML models (Logistic Regression, XGBoost, Random Forest).</a:t>
            </a:r>
            <a:endParaRPr lang="en-US" sz="550" dirty="0"/>
          </a:p>
        </p:txBody>
      </p:sp>
      <p:sp>
        <p:nvSpPr>
          <p:cNvPr id="54" name="Shape 52"/>
          <p:cNvSpPr/>
          <p:nvPr/>
        </p:nvSpPr>
        <p:spPr>
          <a:xfrm>
            <a:off x="5413248" y="3291840"/>
            <a:ext cx="201168" cy="201168"/>
          </a:xfrm>
          <a:prstGeom prst="ellipse">
            <a:avLst/>
          </a:prstGeom>
          <a:solidFill>
            <a:srgbClr val="1A5C38"/>
          </a:solidFill>
          <a:ln w="12700">
            <a:solidFill>
              <a:srgbClr val="1A5C38"/>
            </a:solidFill>
            <a:prstDash val="solid"/>
          </a:ln>
        </p:spPr>
      </p:sp>
      <p:sp>
        <p:nvSpPr>
          <p:cNvPr id="55" name="Text 53"/>
          <p:cNvSpPr/>
          <p:nvPr/>
        </p:nvSpPr>
        <p:spPr>
          <a:xfrm>
            <a:off x="5413248" y="3291840"/>
            <a:ext cx="201168" cy="201168"/>
          </a:xfrm>
          <a:prstGeom prst="rect">
            <a:avLst/>
          </a:prstGeom>
          <a:noFill/>
          <a:ln/>
        </p:spPr>
        <p:txBody>
          <a:bodyPr wrap="square" rtlCol="0" anchor="ctr"/>
          <a:lstStyle/>
          <a:p>
            <a:pPr marL="0" indent="0" algn="ctr">
              <a:buNone/>
            </a:pPr>
            <a:r>
              <a:rPr lang="en-US" sz="600" b="1" dirty="0">
                <a:solidFill>
                  <a:srgbClr val="FFFFFF"/>
                </a:solidFill>
              </a:rPr>
              <a:t>5</a:t>
            </a:r>
            <a:endParaRPr lang="en-US" sz="600" dirty="0"/>
          </a:p>
        </p:txBody>
      </p:sp>
      <p:sp>
        <p:nvSpPr>
          <p:cNvPr id="56" name="Text 54"/>
          <p:cNvSpPr/>
          <p:nvPr/>
        </p:nvSpPr>
        <p:spPr>
          <a:xfrm>
            <a:off x="5669280" y="3291840"/>
            <a:ext cx="1737360" cy="137160"/>
          </a:xfrm>
          <a:prstGeom prst="rect">
            <a:avLst/>
          </a:prstGeom>
          <a:noFill/>
          <a:ln/>
        </p:spPr>
        <p:txBody>
          <a:bodyPr wrap="square" rtlCol="0" anchor="ctr"/>
          <a:lstStyle/>
          <a:p>
            <a:pPr marL="0" indent="0">
              <a:buNone/>
            </a:pPr>
            <a:r>
              <a:rPr lang="en-US" sz="620" b="1" dirty="0">
                <a:solidFill>
                  <a:srgbClr val="212121"/>
                </a:solidFill>
                <a:latin typeface="Arial" pitchFamily="34" charset="0"/>
                <a:ea typeface="Arial" pitchFamily="34" charset="-122"/>
                <a:cs typeface="Arial" pitchFamily="34" charset="-120"/>
              </a:rPr>
              <a:t>Explainability Analysis</a:t>
            </a:r>
            <a:endParaRPr lang="en-US" sz="620" dirty="0"/>
          </a:p>
        </p:txBody>
      </p:sp>
      <p:sp>
        <p:nvSpPr>
          <p:cNvPr id="57" name="Text 55"/>
          <p:cNvSpPr/>
          <p:nvPr/>
        </p:nvSpPr>
        <p:spPr>
          <a:xfrm>
            <a:off x="5669280" y="3429000"/>
            <a:ext cx="1737360" cy="182880"/>
          </a:xfrm>
          <a:prstGeom prst="rect">
            <a:avLst/>
          </a:prstGeom>
          <a:noFill/>
          <a:ln/>
        </p:spPr>
        <p:txBody>
          <a:bodyPr wrap="square" rtlCol="0" anchor="ctr"/>
          <a:lstStyle/>
          <a:p>
            <a:pPr marL="0" indent="0">
              <a:buNone/>
            </a:pPr>
            <a:r>
              <a:rPr lang="en-US" sz="550" dirty="0">
                <a:solidFill>
                  <a:srgbClr val="424242"/>
                </a:solidFill>
                <a:latin typeface="Arial" pitchFamily="34" charset="0"/>
                <a:ea typeface="Arial" pitchFamily="34" charset="-122"/>
                <a:cs typeface="Arial" pitchFamily="34" charset="-120"/>
              </a:rPr>
              <a:t>Use SHAP values to interpret model predictions.</a:t>
            </a:r>
            <a:endParaRPr lang="en-US" sz="550" dirty="0"/>
          </a:p>
        </p:txBody>
      </p:sp>
      <p:sp>
        <p:nvSpPr>
          <p:cNvPr id="58" name="Shape 56"/>
          <p:cNvSpPr/>
          <p:nvPr/>
        </p:nvSpPr>
        <p:spPr>
          <a:xfrm>
            <a:off x="7498080" y="1828800"/>
            <a:ext cx="201168" cy="201168"/>
          </a:xfrm>
          <a:prstGeom prst="ellipse">
            <a:avLst/>
          </a:prstGeom>
          <a:solidFill>
            <a:srgbClr val="1A5C38"/>
          </a:solidFill>
          <a:ln w="12700">
            <a:solidFill>
              <a:srgbClr val="1A5C38"/>
            </a:solidFill>
            <a:prstDash val="solid"/>
          </a:ln>
        </p:spPr>
      </p:sp>
      <p:sp>
        <p:nvSpPr>
          <p:cNvPr id="59" name="Text 57"/>
          <p:cNvSpPr/>
          <p:nvPr/>
        </p:nvSpPr>
        <p:spPr>
          <a:xfrm>
            <a:off x="7498080" y="1828800"/>
            <a:ext cx="201168" cy="201168"/>
          </a:xfrm>
          <a:prstGeom prst="rect">
            <a:avLst/>
          </a:prstGeom>
          <a:noFill/>
          <a:ln/>
        </p:spPr>
        <p:txBody>
          <a:bodyPr wrap="square" rtlCol="0" anchor="ctr"/>
          <a:lstStyle/>
          <a:p>
            <a:pPr marL="0" indent="0" algn="ctr">
              <a:buNone/>
            </a:pPr>
            <a:r>
              <a:rPr lang="en-US" sz="600" b="1" dirty="0">
                <a:solidFill>
                  <a:srgbClr val="FFFFFF"/>
                </a:solidFill>
              </a:rPr>
              <a:t>6</a:t>
            </a:r>
            <a:endParaRPr lang="en-US" sz="600" dirty="0"/>
          </a:p>
        </p:txBody>
      </p:sp>
      <p:sp>
        <p:nvSpPr>
          <p:cNvPr id="60" name="Text 58"/>
          <p:cNvSpPr/>
          <p:nvPr/>
        </p:nvSpPr>
        <p:spPr>
          <a:xfrm>
            <a:off x="7744968" y="1828800"/>
            <a:ext cx="1417320" cy="137160"/>
          </a:xfrm>
          <a:prstGeom prst="rect">
            <a:avLst/>
          </a:prstGeom>
          <a:noFill/>
          <a:ln/>
        </p:spPr>
        <p:txBody>
          <a:bodyPr wrap="square" rtlCol="0" anchor="ctr"/>
          <a:lstStyle/>
          <a:p>
            <a:pPr marL="0" indent="0">
              <a:buNone/>
            </a:pPr>
            <a:r>
              <a:rPr lang="en-US" sz="620" b="1" dirty="0">
                <a:solidFill>
                  <a:srgbClr val="212121"/>
                </a:solidFill>
                <a:latin typeface="Arial" pitchFamily="34" charset="0"/>
                <a:ea typeface="Arial" pitchFamily="34" charset="-122"/>
                <a:cs typeface="Arial" pitchFamily="34" charset="-120"/>
              </a:rPr>
              <a:t>Fairness Assessment</a:t>
            </a:r>
            <a:endParaRPr lang="en-US" sz="620" dirty="0"/>
          </a:p>
        </p:txBody>
      </p:sp>
      <p:sp>
        <p:nvSpPr>
          <p:cNvPr id="61" name="Text 59"/>
          <p:cNvSpPr/>
          <p:nvPr/>
        </p:nvSpPr>
        <p:spPr>
          <a:xfrm>
            <a:off x="7744968" y="1965960"/>
            <a:ext cx="1417320" cy="182880"/>
          </a:xfrm>
          <a:prstGeom prst="rect">
            <a:avLst/>
          </a:prstGeom>
          <a:noFill/>
          <a:ln/>
        </p:spPr>
        <p:txBody>
          <a:bodyPr wrap="square" rtlCol="0" anchor="ctr"/>
          <a:lstStyle/>
          <a:p>
            <a:pPr marL="0" indent="0">
              <a:buNone/>
            </a:pPr>
            <a:r>
              <a:rPr lang="en-US" sz="550" dirty="0">
                <a:solidFill>
                  <a:srgbClr val="424242"/>
                </a:solidFill>
                <a:latin typeface="Arial" pitchFamily="34" charset="0"/>
                <a:ea typeface="Arial" pitchFamily="34" charset="-122"/>
                <a:cs typeface="Arial" pitchFamily="34" charset="-120"/>
              </a:rPr>
              <a:t>Evaluate bias across demographic groups using fairness metrics.</a:t>
            </a:r>
            <a:endParaRPr lang="en-US" sz="550" dirty="0"/>
          </a:p>
        </p:txBody>
      </p:sp>
      <p:sp>
        <p:nvSpPr>
          <p:cNvPr id="62" name="Shape 60"/>
          <p:cNvSpPr/>
          <p:nvPr/>
        </p:nvSpPr>
        <p:spPr>
          <a:xfrm>
            <a:off x="7498080" y="2194560"/>
            <a:ext cx="201168" cy="201168"/>
          </a:xfrm>
          <a:prstGeom prst="ellipse">
            <a:avLst/>
          </a:prstGeom>
          <a:solidFill>
            <a:srgbClr val="1A5C38"/>
          </a:solidFill>
          <a:ln w="12700">
            <a:solidFill>
              <a:srgbClr val="1A5C38"/>
            </a:solidFill>
            <a:prstDash val="solid"/>
          </a:ln>
        </p:spPr>
      </p:sp>
      <p:sp>
        <p:nvSpPr>
          <p:cNvPr id="63" name="Text 61"/>
          <p:cNvSpPr/>
          <p:nvPr/>
        </p:nvSpPr>
        <p:spPr>
          <a:xfrm>
            <a:off x="7498080" y="2194560"/>
            <a:ext cx="201168" cy="201168"/>
          </a:xfrm>
          <a:prstGeom prst="rect">
            <a:avLst/>
          </a:prstGeom>
          <a:noFill/>
          <a:ln/>
        </p:spPr>
        <p:txBody>
          <a:bodyPr wrap="square" rtlCol="0" anchor="ctr"/>
          <a:lstStyle/>
          <a:p>
            <a:pPr marL="0" indent="0" algn="ctr">
              <a:buNone/>
            </a:pPr>
            <a:r>
              <a:rPr lang="en-US" sz="600" b="1" dirty="0">
                <a:solidFill>
                  <a:srgbClr val="FFFFFF"/>
                </a:solidFill>
              </a:rPr>
              <a:t>7</a:t>
            </a:r>
            <a:endParaRPr lang="en-US" sz="600" dirty="0"/>
          </a:p>
        </p:txBody>
      </p:sp>
      <p:sp>
        <p:nvSpPr>
          <p:cNvPr id="64" name="Text 62"/>
          <p:cNvSpPr/>
          <p:nvPr/>
        </p:nvSpPr>
        <p:spPr>
          <a:xfrm>
            <a:off x="7744968" y="2194560"/>
            <a:ext cx="1417320" cy="137160"/>
          </a:xfrm>
          <a:prstGeom prst="rect">
            <a:avLst/>
          </a:prstGeom>
          <a:noFill/>
          <a:ln/>
        </p:spPr>
        <p:txBody>
          <a:bodyPr wrap="square" rtlCol="0" anchor="ctr"/>
          <a:lstStyle/>
          <a:p>
            <a:pPr marL="0" indent="0">
              <a:buNone/>
            </a:pPr>
            <a:r>
              <a:rPr lang="en-US" sz="620" b="1" dirty="0">
                <a:solidFill>
                  <a:srgbClr val="212121"/>
                </a:solidFill>
                <a:latin typeface="Arial" pitchFamily="34" charset="0"/>
                <a:ea typeface="Arial" pitchFamily="34" charset="-122"/>
                <a:cs typeface="Arial" pitchFamily="34" charset="-120"/>
              </a:rPr>
              <a:t>Drift Detection</a:t>
            </a:r>
            <a:endParaRPr lang="en-US" sz="620" dirty="0"/>
          </a:p>
        </p:txBody>
      </p:sp>
      <p:sp>
        <p:nvSpPr>
          <p:cNvPr id="65" name="Text 63"/>
          <p:cNvSpPr/>
          <p:nvPr/>
        </p:nvSpPr>
        <p:spPr>
          <a:xfrm>
            <a:off x="7744968" y="2331720"/>
            <a:ext cx="1417320" cy="182880"/>
          </a:xfrm>
          <a:prstGeom prst="rect">
            <a:avLst/>
          </a:prstGeom>
          <a:noFill/>
          <a:ln/>
        </p:spPr>
        <p:txBody>
          <a:bodyPr wrap="square" rtlCol="0" anchor="ctr"/>
          <a:lstStyle/>
          <a:p>
            <a:pPr marL="0" indent="0">
              <a:buNone/>
            </a:pPr>
            <a:r>
              <a:rPr lang="en-US" sz="550" dirty="0">
                <a:solidFill>
                  <a:srgbClr val="424242"/>
                </a:solidFill>
                <a:latin typeface="Arial" pitchFamily="34" charset="0"/>
                <a:ea typeface="Arial" pitchFamily="34" charset="-122"/>
                <a:cs typeface="Arial" pitchFamily="34" charset="-120"/>
              </a:rPr>
              <a:t>Monitor data &amp; concept drift over time to detect model degradation.</a:t>
            </a:r>
            <a:endParaRPr lang="en-US" sz="550" dirty="0"/>
          </a:p>
        </p:txBody>
      </p:sp>
      <p:sp>
        <p:nvSpPr>
          <p:cNvPr id="66" name="Shape 64"/>
          <p:cNvSpPr/>
          <p:nvPr/>
        </p:nvSpPr>
        <p:spPr>
          <a:xfrm>
            <a:off x="7498080" y="2560320"/>
            <a:ext cx="201168" cy="201168"/>
          </a:xfrm>
          <a:prstGeom prst="ellipse">
            <a:avLst/>
          </a:prstGeom>
          <a:solidFill>
            <a:srgbClr val="1A5C38"/>
          </a:solidFill>
          <a:ln w="12700">
            <a:solidFill>
              <a:srgbClr val="1A5C38"/>
            </a:solidFill>
            <a:prstDash val="solid"/>
          </a:ln>
        </p:spPr>
      </p:sp>
      <p:sp>
        <p:nvSpPr>
          <p:cNvPr id="67" name="Text 65"/>
          <p:cNvSpPr/>
          <p:nvPr/>
        </p:nvSpPr>
        <p:spPr>
          <a:xfrm>
            <a:off x="7498080" y="2560320"/>
            <a:ext cx="201168" cy="201168"/>
          </a:xfrm>
          <a:prstGeom prst="rect">
            <a:avLst/>
          </a:prstGeom>
          <a:noFill/>
          <a:ln/>
        </p:spPr>
        <p:txBody>
          <a:bodyPr wrap="square" rtlCol="0" anchor="ctr"/>
          <a:lstStyle/>
          <a:p>
            <a:pPr marL="0" indent="0" algn="ctr">
              <a:buNone/>
            </a:pPr>
            <a:r>
              <a:rPr lang="en-US" sz="600" b="1" dirty="0">
                <a:solidFill>
                  <a:srgbClr val="FFFFFF"/>
                </a:solidFill>
              </a:rPr>
              <a:t>8</a:t>
            </a:r>
            <a:endParaRPr lang="en-US" sz="600" dirty="0"/>
          </a:p>
        </p:txBody>
      </p:sp>
      <p:sp>
        <p:nvSpPr>
          <p:cNvPr id="68" name="Text 66"/>
          <p:cNvSpPr/>
          <p:nvPr/>
        </p:nvSpPr>
        <p:spPr>
          <a:xfrm>
            <a:off x="7744968" y="2560320"/>
            <a:ext cx="1417320" cy="137160"/>
          </a:xfrm>
          <a:prstGeom prst="rect">
            <a:avLst/>
          </a:prstGeom>
          <a:noFill/>
          <a:ln/>
        </p:spPr>
        <p:txBody>
          <a:bodyPr wrap="square" rtlCol="0" anchor="ctr"/>
          <a:lstStyle/>
          <a:p>
            <a:pPr marL="0" indent="0">
              <a:buNone/>
            </a:pPr>
            <a:r>
              <a:rPr lang="en-US" sz="620" b="1" dirty="0">
                <a:solidFill>
                  <a:srgbClr val="212121"/>
                </a:solidFill>
                <a:latin typeface="Arial" pitchFamily="34" charset="0"/>
                <a:ea typeface="Arial" pitchFamily="34" charset="-122"/>
                <a:cs typeface="Arial" pitchFamily="34" charset="-120"/>
              </a:rPr>
              <a:t>Risk Scoring Engine</a:t>
            </a:r>
            <a:endParaRPr lang="en-US" sz="620" dirty="0"/>
          </a:p>
        </p:txBody>
      </p:sp>
      <p:sp>
        <p:nvSpPr>
          <p:cNvPr id="69" name="Text 67"/>
          <p:cNvSpPr/>
          <p:nvPr/>
        </p:nvSpPr>
        <p:spPr>
          <a:xfrm>
            <a:off x="7744968" y="2697480"/>
            <a:ext cx="1417320" cy="182880"/>
          </a:xfrm>
          <a:prstGeom prst="rect">
            <a:avLst/>
          </a:prstGeom>
          <a:noFill/>
          <a:ln/>
        </p:spPr>
        <p:txBody>
          <a:bodyPr wrap="square" rtlCol="0" anchor="ctr"/>
          <a:lstStyle/>
          <a:p>
            <a:pPr marL="0" indent="0">
              <a:buNone/>
            </a:pPr>
            <a:r>
              <a:rPr lang="en-US" sz="550" dirty="0">
                <a:solidFill>
                  <a:srgbClr val="424242"/>
                </a:solidFill>
                <a:latin typeface="Arial" pitchFamily="34" charset="0"/>
                <a:ea typeface="Arial" pitchFamily="34" charset="-122"/>
                <a:cs typeface="Arial" pitchFamily="34" charset="-120"/>
              </a:rPr>
              <a:t>Aggregate metrics to compute overall risk score.</a:t>
            </a:r>
            <a:endParaRPr lang="en-US" sz="550" dirty="0"/>
          </a:p>
        </p:txBody>
      </p:sp>
      <p:sp>
        <p:nvSpPr>
          <p:cNvPr id="70" name="Shape 68"/>
          <p:cNvSpPr/>
          <p:nvPr/>
        </p:nvSpPr>
        <p:spPr>
          <a:xfrm>
            <a:off x="7498080" y="2926080"/>
            <a:ext cx="201168" cy="201168"/>
          </a:xfrm>
          <a:prstGeom prst="ellipse">
            <a:avLst/>
          </a:prstGeom>
          <a:solidFill>
            <a:srgbClr val="1A5C38"/>
          </a:solidFill>
          <a:ln w="12700">
            <a:solidFill>
              <a:srgbClr val="1A5C38"/>
            </a:solidFill>
            <a:prstDash val="solid"/>
          </a:ln>
        </p:spPr>
      </p:sp>
      <p:sp>
        <p:nvSpPr>
          <p:cNvPr id="71" name="Text 69"/>
          <p:cNvSpPr/>
          <p:nvPr/>
        </p:nvSpPr>
        <p:spPr>
          <a:xfrm>
            <a:off x="7498080" y="2926080"/>
            <a:ext cx="201168" cy="201168"/>
          </a:xfrm>
          <a:prstGeom prst="rect">
            <a:avLst/>
          </a:prstGeom>
          <a:noFill/>
          <a:ln/>
        </p:spPr>
        <p:txBody>
          <a:bodyPr wrap="square" rtlCol="0" anchor="ctr"/>
          <a:lstStyle/>
          <a:p>
            <a:pPr marL="0" indent="0" algn="ctr">
              <a:buNone/>
            </a:pPr>
            <a:r>
              <a:rPr lang="en-US" sz="600" b="1" dirty="0">
                <a:solidFill>
                  <a:srgbClr val="FFFFFF"/>
                </a:solidFill>
              </a:rPr>
              <a:t>9</a:t>
            </a:r>
            <a:endParaRPr lang="en-US" sz="600" dirty="0"/>
          </a:p>
        </p:txBody>
      </p:sp>
      <p:sp>
        <p:nvSpPr>
          <p:cNvPr id="72" name="Text 70"/>
          <p:cNvSpPr/>
          <p:nvPr/>
        </p:nvSpPr>
        <p:spPr>
          <a:xfrm>
            <a:off x="7744968" y="2926080"/>
            <a:ext cx="1417320" cy="137160"/>
          </a:xfrm>
          <a:prstGeom prst="rect">
            <a:avLst/>
          </a:prstGeom>
          <a:noFill/>
          <a:ln/>
        </p:spPr>
        <p:txBody>
          <a:bodyPr wrap="square" rtlCol="0" anchor="ctr"/>
          <a:lstStyle/>
          <a:p>
            <a:pPr marL="0" indent="0">
              <a:buNone/>
            </a:pPr>
            <a:r>
              <a:rPr lang="en-US" sz="620" b="1" dirty="0">
                <a:solidFill>
                  <a:srgbClr val="212121"/>
                </a:solidFill>
                <a:latin typeface="Arial" pitchFamily="34" charset="0"/>
                <a:ea typeface="Arial" pitchFamily="34" charset="-122"/>
                <a:cs typeface="Arial" pitchFamily="34" charset="-120"/>
              </a:rPr>
              <a:t>Responsible AI Dashboard</a:t>
            </a:r>
            <a:endParaRPr lang="en-US" sz="620" dirty="0"/>
          </a:p>
        </p:txBody>
      </p:sp>
      <p:sp>
        <p:nvSpPr>
          <p:cNvPr id="73" name="Text 71"/>
          <p:cNvSpPr/>
          <p:nvPr/>
        </p:nvSpPr>
        <p:spPr>
          <a:xfrm>
            <a:off x="7744968" y="3063240"/>
            <a:ext cx="1417320" cy="182880"/>
          </a:xfrm>
          <a:prstGeom prst="rect">
            <a:avLst/>
          </a:prstGeom>
          <a:noFill/>
          <a:ln/>
        </p:spPr>
        <p:txBody>
          <a:bodyPr wrap="square" rtlCol="0" anchor="ctr"/>
          <a:lstStyle/>
          <a:p>
            <a:pPr marL="0" indent="0">
              <a:buNone/>
            </a:pPr>
            <a:r>
              <a:rPr lang="en-US" sz="550" dirty="0">
                <a:solidFill>
                  <a:srgbClr val="424242"/>
                </a:solidFill>
                <a:latin typeface="Arial" pitchFamily="34" charset="0"/>
                <a:ea typeface="Arial" pitchFamily="34" charset="-122"/>
                <a:cs typeface="Arial" pitchFamily="34" charset="-120"/>
              </a:rPr>
              <a:t>Visualize metrics and alerts in real-time.</a:t>
            </a:r>
            <a:endParaRPr lang="en-US" sz="550" dirty="0"/>
          </a:p>
        </p:txBody>
      </p:sp>
      <p:sp>
        <p:nvSpPr>
          <p:cNvPr id="74" name="Shape 72"/>
          <p:cNvSpPr/>
          <p:nvPr/>
        </p:nvSpPr>
        <p:spPr>
          <a:xfrm>
            <a:off x="7498080" y="3291840"/>
            <a:ext cx="201168" cy="201168"/>
          </a:xfrm>
          <a:prstGeom prst="ellipse">
            <a:avLst/>
          </a:prstGeom>
          <a:solidFill>
            <a:srgbClr val="1A5C38"/>
          </a:solidFill>
          <a:ln w="12700">
            <a:solidFill>
              <a:srgbClr val="1A5C38"/>
            </a:solidFill>
            <a:prstDash val="solid"/>
          </a:ln>
        </p:spPr>
        <p:txBody>
          <a:bodyPr/>
          <a:lstStyle/>
          <a:p>
            <a:endParaRPr lang="en-US" dirty="0"/>
          </a:p>
        </p:txBody>
      </p:sp>
      <p:sp>
        <p:nvSpPr>
          <p:cNvPr id="75" name="Text 73"/>
          <p:cNvSpPr/>
          <p:nvPr/>
        </p:nvSpPr>
        <p:spPr>
          <a:xfrm>
            <a:off x="7421816" y="3291840"/>
            <a:ext cx="353695" cy="201168"/>
          </a:xfrm>
          <a:prstGeom prst="rect">
            <a:avLst/>
          </a:prstGeom>
          <a:noFill/>
          <a:ln/>
        </p:spPr>
        <p:txBody>
          <a:bodyPr wrap="square" rtlCol="0" anchor="ctr"/>
          <a:lstStyle/>
          <a:p>
            <a:pPr marL="0" indent="0" algn="ctr">
              <a:buNone/>
            </a:pPr>
            <a:r>
              <a:rPr lang="en-US" sz="600" b="1" dirty="0">
                <a:solidFill>
                  <a:srgbClr val="FFFFFF"/>
                </a:solidFill>
              </a:rPr>
              <a:t>10</a:t>
            </a:r>
            <a:endParaRPr lang="en-US" sz="600" dirty="0"/>
          </a:p>
        </p:txBody>
      </p:sp>
      <p:sp>
        <p:nvSpPr>
          <p:cNvPr id="76" name="Text 74"/>
          <p:cNvSpPr/>
          <p:nvPr/>
        </p:nvSpPr>
        <p:spPr>
          <a:xfrm>
            <a:off x="7744968" y="3291840"/>
            <a:ext cx="1417320" cy="137160"/>
          </a:xfrm>
          <a:prstGeom prst="rect">
            <a:avLst/>
          </a:prstGeom>
          <a:noFill/>
          <a:ln/>
        </p:spPr>
        <p:txBody>
          <a:bodyPr wrap="square" rtlCol="0" anchor="ctr"/>
          <a:lstStyle/>
          <a:p>
            <a:pPr marL="0" indent="0">
              <a:buNone/>
            </a:pPr>
            <a:r>
              <a:rPr lang="en-US" sz="620" b="1" dirty="0">
                <a:solidFill>
                  <a:srgbClr val="212121"/>
                </a:solidFill>
                <a:latin typeface="Arial" pitchFamily="34" charset="0"/>
                <a:ea typeface="Arial" pitchFamily="34" charset="-122"/>
                <a:cs typeface="Arial" pitchFamily="34" charset="-120"/>
              </a:rPr>
              <a:t>Governance Recommendations</a:t>
            </a:r>
            <a:endParaRPr lang="en-US" sz="620" dirty="0"/>
          </a:p>
        </p:txBody>
      </p:sp>
      <p:sp>
        <p:nvSpPr>
          <p:cNvPr id="77" name="Text 75"/>
          <p:cNvSpPr/>
          <p:nvPr/>
        </p:nvSpPr>
        <p:spPr>
          <a:xfrm>
            <a:off x="7744968" y="3429000"/>
            <a:ext cx="1417320" cy="182880"/>
          </a:xfrm>
          <a:prstGeom prst="rect">
            <a:avLst/>
          </a:prstGeom>
          <a:noFill/>
          <a:ln/>
        </p:spPr>
        <p:txBody>
          <a:bodyPr wrap="square" rtlCol="0" anchor="ctr"/>
          <a:lstStyle/>
          <a:p>
            <a:pPr marL="0" indent="0">
              <a:buNone/>
            </a:pPr>
            <a:r>
              <a:rPr lang="en-US" sz="550" dirty="0">
                <a:solidFill>
                  <a:srgbClr val="424242"/>
                </a:solidFill>
                <a:latin typeface="Arial" pitchFamily="34" charset="0"/>
                <a:ea typeface="Arial" pitchFamily="34" charset="-122"/>
                <a:cs typeface="Arial" pitchFamily="34" charset="-120"/>
              </a:rPr>
              <a:t>Provide actionable insights for governance and compliance.</a:t>
            </a:r>
            <a:endParaRPr lang="en-US" sz="550" dirty="0"/>
          </a:p>
        </p:txBody>
      </p:sp>
      <p:sp>
        <p:nvSpPr>
          <p:cNvPr id="78" name="Shape 76"/>
          <p:cNvSpPr/>
          <p:nvPr/>
        </p:nvSpPr>
        <p:spPr>
          <a:xfrm>
            <a:off x="73152" y="3813048"/>
            <a:ext cx="5138928" cy="1600200"/>
          </a:xfrm>
          <a:prstGeom prst="rect">
            <a:avLst/>
          </a:prstGeom>
          <a:solidFill>
            <a:srgbClr val="FFFFFF"/>
          </a:solidFill>
          <a:ln w="12700">
            <a:solidFill>
              <a:srgbClr val="BDBDBD"/>
            </a:solidFill>
            <a:prstDash val="solid"/>
          </a:ln>
        </p:spPr>
      </p:sp>
      <p:sp>
        <p:nvSpPr>
          <p:cNvPr id="79" name="Shape 77"/>
          <p:cNvSpPr/>
          <p:nvPr/>
        </p:nvSpPr>
        <p:spPr>
          <a:xfrm>
            <a:off x="73152" y="3813048"/>
            <a:ext cx="5138928" cy="274320"/>
          </a:xfrm>
          <a:prstGeom prst="rect">
            <a:avLst/>
          </a:prstGeom>
          <a:solidFill>
            <a:srgbClr val="1A5C38"/>
          </a:solidFill>
          <a:ln w="12700">
            <a:solidFill>
              <a:srgbClr val="1A5C38"/>
            </a:solidFill>
            <a:prstDash val="solid"/>
          </a:ln>
        </p:spPr>
      </p:sp>
      <p:sp>
        <p:nvSpPr>
          <p:cNvPr id="80" name="Text 78"/>
          <p:cNvSpPr/>
          <p:nvPr/>
        </p:nvSpPr>
        <p:spPr>
          <a:xfrm>
            <a:off x="128016" y="3829476"/>
            <a:ext cx="4956048" cy="237744"/>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  RESEARCH QUESTIONS</a:t>
            </a:r>
            <a:endParaRPr lang="en-US" sz="800" dirty="0"/>
          </a:p>
        </p:txBody>
      </p:sp>
      <p:sp>
        <p:nvSpPr>
          <p:cNvPr id="81" name="Shape 79"/>
          <p:cNvSpPr/>
          <p:nvPr/>
        </p:nvSpPr>
        <p:spPr>
          <a:xfrm>
            <a:off x="128016" y="4160520"/>
            <a:ext cx="347472" cy="182880"/>
          </a:xfrm>
          <a:prstGeom prst="rect">
            <a:avLst/>
          </a:prstGeom>
          <a:solidFill>
            <a:srgbClr val="1A5C38"/>
          </a:solidFill>
          <a:ln w="12700">
            <a:solidFill>
              <a:srgbClr val="1A5C38"/>
            </a:solidFill>
            <a:prstDash val="solid"/>
          </a:ln>
        </p:spPr>
      </p:sp>
      <p:sp>
        <p:nvSpPr>
          <p:cNvPr id="82" name="Text 80"/>
          <p:cNvSpPr/>
          <p:nvPr/>
        </p:nvSpPr>
        <p:spPr>
          <a:xfrm>
            <a:off x="128016" y="4160520"/>
            <a:ext cx="347472" cy="182880"/>
          </a:xfrm>
          <a:prstGeom prst="rect">
            <a:avLst/>
          </a:prstGeom>
          <a:noFill/>
          <a:ln/>
        </p:spPr>
        <p:txBody>
          <a:bodyPr wrap="square" rtlCol="0" anchor="ctr"/>
          <a:lstStyle/>
          <a:p>
            <a:pPr marL="0" indent="0" algn="ctr">
              <a:buNone/>
            </a:pPr>
            <a:r>
              <a:rPr lang="en-US" sz="650" b="1" dirty="0">
                <a:solidFill>
                  <a:srgbClr val="FFFFFF"/>
                </a:solidFill>
              </a:rPr>
              <a:t>RQ1</a:t>
            </a:r>
            <a:endParaRPr lang="en-US" sz="650" dirty="0"/>
          </a:p>
        </p:txBody>
      </p:sp>
      <p:sp>
        <p:nvSpPr>
          <p:cNvPr id="83" name="Text 81"/>
          <p:cNvSpPr/>
          <p:nvPr/>
        </p:nvSpPr>
        <p:spPr>
          <a:xfrm>
            <a:off x="530352" y="4160520"/>
            <a:ext cx="2286000" cy="182880"/>
          </a:xfrm>
          <a:prstGeom prst="rect">
            <a:avLst/>
          </a:prstGeom>
          <a:noFill/>
          <a:ln/>
        </p:spPr>
        <p:txBody>
          <a:bodyPr wrap="square" rtlCol="0" anchor="ctr"/>
          <a:lstStyle/>
          <a:p>
            <a:pPr marL="0" indent="0">
              <a:buNone/>
            </a:pPr>
            <a:r>
              <a:rPr lang="en-US" sz="650" dirty="0">
                <a:solidFill>
                  <a:srgbClr val="212121"/>
                </a:solidFill>
                <a:latin typeface="Arial" pitchFamily="34" charset="0"/>
                <a:ea typeface="Arial" pitchFamily="34" charset="-122"/>
                <a:cs typeface="Arial" pitchFamily="34" charset="-120"/>
              </a:rPr>
              <a:t>How explainable are AI model predictions?</a:t>
            </a:r>
            <a:endParaRPr lang="en-US" sz="650" dirty="0"/>
          </a:p>
        </p:txBody>
      </p:sp>
      <p:sp>
        <p:nvSpPr>
          <p:cNvPr id="84" name="Shape 82"/>
          <p:cNvSpPr/>
          <p:nvPr/>
        </p:nvSpPr>
        <p:spPr>
          <a:xfrm>
            <a:off x="128016" y="4407408"/>
            <a:ext cx="347472" cy="182880"/>
          </a:xfrm>
          <a:prstGeom prst="rect">
            <a:avLst/>
          </a:prstGeom>
          <a:solidFill>
            <a:srgbClr val="1A5C38"/>
          </a:solidFill>
          <a:ln w="12700">
            <a:solidFill>
              <a:srgbClr val="1A5C38"/>
            </a:solidFill>
            <a:prstDash val="solid"/>
          </a:ln>
        </p:spPr>
      </p:sp>
      <p:sp>
        <p:nvSpPr>
          <p:cNvPr id="85" name="Text 83"/>
          <p:cNvSpPr/>
          <p:nvPr/>
        </p:nvSpPr>
        <p:spPr>
          <a:xfrm>
            <a:off x="128016" y="4407408"/>
            <a:ext cx="347472" cy="182880"/>
          </a:xfrm>
          <a:prstGeom prst="rect">
            <a:avLst/>
          </a:prstGeom>
          <a:noFill/>
          <a:ln/>
        </p:spPr>
        <p:txBody>
          <a:bodyPr wrap="square" rtlCol="0" anchor="ctr"/>
          <a:lstStyle/>
          <a:p>
            <a:pPr marL="0" indent="0" algn="ctr">
              <a:buNone/>
            </a:pPr>
            <a:r>
              <a:rPr lang="en-US" sz="650" b="1" dirty="0">
                <a:solidFill>
                  <a:srgbClr val="FFFFFF"/>
                </a:solidFill>
              </a:rPr>
              <a:t>RQ2</a:t>
            </a:r>
            <a:endParaRPr lang="en-US" sz="650" dirty="0"/>
          </a:p>
        </p:txBody>
      </p:sp>
      <p:sp>
        <p:nvSpPr>
          <p:cNvPr id="86" name="Text 84"/>
          <p:cNvSpPr/>
          <p:nvPr/>
        </p:nvSpPr>
        <p:spPr>
          <a:xfrm>
            <a:off x="530352" y="4407408"/>
            <a:ext cx="2980944" cy="182880"/>
          </a:xfrm>
          <a:prstGeom prst="rect">
            <a:avLst/>
          </a:prstGeom>
          <a:noFill/>
          <a:ln/>
        </p:spPr>
        <p:txBody>
          <a:bodyPr wrap="square" rtlCol="0" anchor="ctr"/>
          <a:lstStyle/>
          <a:p>
            <a:pPr marL="0" indent="0">
              <a:buNone/>
            </a:pPr>
            <a:r>
              <a:rPr lang="en-US" sz="650" dirty="0">
                <a:solidFill>
                  <a:srgbClr val="212121"/>
                </a:solidFill>
                <a:latin typeface="Arial" pitchFamily="34" charset="0"/>
                <a:ea typeface="Arial" pitchFamily="34" charset="-122"/>
                <a:cs typeface="Arial" pitchFamily="34" charset="-120"/>
              </a:rPr>
              <a:t>Fairness assessment indicated low bias across network activity groups? </a:t>
            </a:r>
            <a:endParaRPr lang="en-US" sz="650" dirty="0"/>
          </a:p>
        </p:txBody>
      </p:sp>
      <p:sp>
        <p:nvSpPr>
          <p:cNvPr id="87" name="Shape 85"/>
          <p:cNvSpPr/>
          <p:nvPr/>
        </p:nvSpPr>
        <p:spPr>
          <a:xfrm>
            <a:off x="128016" y="4654296"/>
            <a:ext cx="347472" cy="182880"/>
          </a:xfrm>
          <a:prstGeom prst="rect">
            <a:avLst/>
          </a:prstGeom>
          <a:solidFill>
            <a:srgbClr val="1A5C38"/>
          </a:solidFill>
          <a:ln w="12700">
            <a:solidFill>
              <a:srgbClr val="1A5C38"/>
            </a:solidFill>
            <a:prstDash val="solid"/>
          </a:ln>
        </p:spPr>
      </p:sp>
      <p:sp>
        <p:nvSpPr>
          <p:cNvPr id="88" name="Text 86"/>
          <p:cNvSpPr/>
          <p:nvPr/>
        </p:nvSpPr>
        <p:spPr>
          <a:xfrm>
            <a:off x="128016" y="4654296"/>
            <a:ext cx="347472" cy="182880"/>
          </a:xfrm>
          <a:prstGeom prst="rect">
            <a:avLst/>
          </a:prstGeom>
          <a:noFill/>
          <a:ln/>
        </p:spPr>
        <p:txBody>
          <a:bodyPr wrap="square" rtlCol="0" anchor="ctr"/>
          <a:lstStyle/>
          <a:p>
            <a:pPr marL="0" indent="0" algn="ctr">
              <a:buNone/>
            </a:pPr>
            <a:r>
              <a:rPr lang="en-US" sz="650" b="1" dirty="0">
                <a:solidFill>
                  <a:srgbClr val="FFFFFF"/>
                </a:solidFill>
              </a:rPr>
              <a:t>RQ3</a:t>
            </a:r>
            <a:endParaRPr lang="en-US" sz="650" dirty="0"/>
          </a:p>
        </p:txBody>
      </p:sp>
      <p:sp>
        <p:nvSpPr>
          <p:cNvPr id="89" name="Text 87"/>
          <p:cNvSpPr/>
          <p:nvPr/>
        </p:nvSpPr>
        <p:spPr>
          <a:xfrm>
            <a:off x="530352" y="4654296"/>
            <a:ext cx="2286000" cy="182880"/>
          </a:xfrm>
          <a:prstGeom prst="rect">
            <a:avLst/>
          </a:prstGeom>
          <a:noFill/>
          <a:ln/>
        </p:spPr>
        <p:txBody>
          <a:bodyPr wrap="square" rtlCol="0" anchor="ctr"/>
          <a:lstStyle/>
          <a:p>
            <a:pPr marL="0" indent="0">
              <a:buNone/>
            </a:pPr>
            <a:r>
              <a:rPr lang="en-US" sz="650" dirty="0">
                <a:solidFill>
                  <a:srgbClr val="212121"/>
                </a:solidFill>
                <a:latin typeface="Arial" pitchFamily="34" charset="0"/>
                <a:ea typeface="Arial" pitchFamily="34" charset="-122"/>
                <a:cs typeface="Arial" pitchFamily="34" charset="-120"/>
              </a:rPr>
              <a:t>How stable is model performance over time?</a:t>
            </a:r>
            <a:endParaRPr lang="en-US" sz="650" dirty="0"/>
          </a:p>
        </p:txBody>
      </p:sp>
      <p:sp>
        <p:nvSpPr>
          <p:cNvPr id="90" name="Shape 88"/>
          <p:cNvSpPr/>
          <p:nvPr/>
        </p:nvSpPr>
        <p:spPr>
          <a:xfrm>
            <a:off x="128016" y="4901184"/>
            <a:ext cx="347472" cy="182880"/>
          </a:xfrm>
          <a:prstGeom prst="rect">
            <a:avLst/>
          </a:prstGeom>
          <a:solidFill>
            <a:srgbClr val="1A5C38"/>
          </a:solidFill>
          <a:ln w="12700">
            <a:solidFill>
              <a:srgbClr val="1A5C38"/>
            </a:solidFill>
            <a:prstDash val="solid"/>
          </a:ln>
        </p:spPr>
      </p:sp>
      <p:sp>
        <p:nvSpPr>
          <p:cNvPr id="91" name="Text 89"/>
          <p:cNvSpPr/>
          <p:nvPr/>
        </p:nvSpPr>
        <p:spPr>
          <a:xfrm>
            <a:off x="128016" y="4901184"/>
            <a:ext cx="347472" cy="182880"/>
          </a:xfrm>
          <a:prstGeom prst="rect">
            <a:avLst/>
          </a:prstGeom>
          <a:noFill/>
          <a:ln/>
        </p:spPr>
        <p:txBody>
          <a:bodyPr wrap="square" rtlCol="0" anchor="ctr"/>
          <a:lstStyle/>
          <a:p>
            <a:pPr marL="0" indent="0" algn="ctr">
              <a:buNone/>
            </a:pPr>
            <a:r>
              <a:rPr lang="en-US" sz="650" b="1" dirty="0">
                <a:solidFill>
                  <a:srgbClr val="FFFFFF"/>
                </a:solidFill>
              </a:rPr>
              <a:t>RQ4</a:t>
            </a:r>
            <a:endParaRPr lang="en-US" sz="650" dirty="0"/>
          </a:p>
        </p:txBody>
      </p:sp>
      <p:sp>
        <p:nvSpPr>
          <p:cNvPr id="92" name="Text 90"/>
          <p:cNvSpPr/>
          <p:nvPr/>
        </p:nvSpPr>
        <p:spPr>
          <a:xfrm>
            <a:off x="530352" y="4901184"/>
            <a:ext cx="2286000" cy="182880"/>
          </a:xfrm>
          <a:prstGeom prst="rect">
            <a:avLst/>
          </a:prstGeom>
          <a:noFill/>
          <a:ln/>
        </p:spPr>
        <p:txBody>
          <a:bodyPr wrap="square" rtlCol="0" anchor="ctr"/>
          <a:lstStyle/>
          <a:p>
            <a:pPr marL="0" indent="0">
              <a:buNone/>
            </a:pPr>
            <a:r>
              <a:rPr lang="en-US" sz="650" dirty="0">
                <a:solidFill>
                  <a:srgbClr val="212121"/>
                </a:solidFill>
                <a:latin typeface="Arial" pitchFamily="34" charset="0"/>
                <a:ea typeface="Arial" pitchFamily="34" charset="-122"/>
                <a:cs typeface="Arial" pitchFamily="34" charset="-120"/>
              </a:rPr>
              <a:t>Can model drift be detected automatically?</a:t>
            </a:r>
            <a:endParaRPr lang="en-US" sz="650" dirty="0"/>
          </a:p>
        </p:txBody>
      </p:sp>
      <p:sp>
        <p:nvSpPr>
          <p:cNvPr id="93" name="Shape 91"/>
          <p:cNvSpPr/>
          <p:nvPr/>
        </p:nvSpPr>
        <p:spPr>
          <a:xfrm>
            <a:off x="128016" y="5148072"/>
            <a:ext cx="347472" cy="182880"/>
          </a:xfrm>
          <a:prstGeom prst="rect">
            <a:avLst/>
          </a:prstGeom>
          <a:solidFill>
            <a:srgbClr val="1A5C38"/>
          </a:solidFill>
          <a:ln w="12700">
            <a:solidFill>
              <a:srgbClr val="1A5C38"/>
            </a:solidFill>
            <a:prstDash val="solid"/>
          </a:ln>
        </p:spPr>
      </p:sp>
      <p:sp>
        <p:nvSpPr>
          <p:cNvPr id="94" name="Text 92"/>
          <p:cNvSpPr/>
          <p:nvPr/>
        </p:nvSpPr>
        <p:spPr>
          <a:xfrm>
            <a:off x="128016" y="5148072"/>
            <a:ext cx="347472" cy="182880"/>
          </a:xfrm>
          <a:prstGeom prst="rect">
            <a:avLst/>
          </a:prstGeom>
          <a:noFill/>
          <a:ln/>
        </p:spPr>
        <p:txBody>
          <a:bodyPr wrap="square" rtlCol="0" anchor="ctr"/>
          <a:lstStyle/>
          <a:p>
            <a:pPr marL="0" indent="0" algn="ctr">
              <a:buNone/>
            </a:pPr>
            <a:r>
              <a:rPr lang="en-US" sz="650" b="1" dirty="0">
                <a:solidFill>
                  <a:srgbClr val="FFFFFF"/>
                </a:solidFill>
              </a:rPr>
              <a:t>RQ5</a:t>
            </a:r>
            <a:endParaRPr lang="en-US" sz="650" dirty="0"/>
          </a:p>
        </p:txBody>
      </p:sp>
      <p:sp>
        <p:nvSpPr>
          <p:cNvPr id="95" name="Text 93"/>
          <p:cNvSpPr/>
          <p:nvPr/>
        </p:nvSpPr>
        <p:spPr>
          <a:xfrm>
            <a:off x="530352" y="5148072"/>
            <a:ext cx="2633472" cy="182880"/>
          </a:xfrm>
          <a:prstGeom prst="rect">
            <a:avLst/>
          </a:prstGeom>
          <a:noFill/>
          <a:ln/>
        </p:spPr>
        <p:txBody>
          <a:bodyPr wrap="square" rtlCol="0" anchor="ctr"/>
          <a:lstStyle/>
          <a:p>
            <a:pPr marL="0" indent="0">
              <a:buNone/>
            </a:pPr>
            <a:r>
              <a:rPr lang="en-US" sz="650" dirty="0">
                <a:solidFill>
                  <a:srgbClr val="212121"/>
                </a:solidFill>
                <a:latin typeface="Arial" pitchFamily="34" charset="0"/>
                <a:ea typeface="Arial" pitchFamily="34" charset="-122"/>
                <a:cs typeface="Arial" pitchFamily="34" charset="-120"/>
              </a:rPr>
              <a:t>How can a dashboard improve AI governance and accountability?</a:t>
            </a:r>
            <a:endParaRPr lang="en-US" sz="650" dirty="0"/>
          </a:p>
        </p:txBody>
      </p:sp>
      <p:sp>
        <p:nvSpPr>
          <p:cNvPr id="96" name="Shape 94"/>
          <p:cNvSpPr/>
          <p:nvPr/>
        </p:nvSpPr>
        <p:spPr>
          <a:xfrm>
            <a:off x="5321808" y="3813047"/>
            <a:ext cx="3931920" cy="1678483"/>
          </a:xfrm>
          <a:prstGeom prst="rect">
            <a:avLst/>
          </a:prstGeom>
          <a:solidFill>
            <a:srgbClr val="FFFFFF"/>
          </a:solidFill>
          <a:ln w="12700">
            <a:solidFill>
              <a:srgbClr val="BDBDBD"/>
            </a:solidFill>
            <a:prstDash val="solid"/>
          </a:ln>
        </p:spPr>
        <p:txBody>
          <a:bodyPr/>
          <a:lstStyle/>
          <a:p>
            <a:endParaRPr lang="en-US" sz="650" dirty="0">
              <a:latin typeface="Arial" panose="020B0604020202020204" pitchFamily="34" charset="0"/>
              <a:cs typeface="Arial" panose="020B0604020202020204" pitchFamily="34" charset="0"/>
            </a:endParaRPr>
          </a:p>
          <a:p>
            <a:endParaRPr lang="en-US" sz="650" dirty="0">
              <a:latin typeface="Arial" panose="020B0604020202020204" pitchFamily="34" charset="0"/>
              <a:cs typeface="Arial" panose="020B0604020202020204" pitchFamily="34" charset="0"/>
            </a:endParaRPr>
          </a:p>
          <a:p>
            <a:endParaRPr lang="en-US" sz="65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solidFill>
                  <a:schemeClr val="tx1">
                    <a:lumMod val="75000"/>
                    <a:lumOff val="25000"/>
                  </a:schemeClr>
                </a:solidFill>
                <a:latin typeface="Arial" panose="020B0604020202020204" pitchFamily="34" charset="0"/>
                <a:cs typeface="Arial" panose="020B0604020202020204" pitchFamily="34" charset="0"/>
              </a:rPr>
              <a:t>SHAP analysis identified the most influential features driving intrusion detection predictions.</a:t>
            </a:r>
          </a:p>
          <a:p>
            <a:endParaRPr lang="en-US" sz="650" dirty="0">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solidFill>
                  <a:schemeClr val="tx1">
                    <a:lumMod val="75000"/>
                    <a:lumOff val="25000"/>
                  </a:schemeClr>
                </a:solidFill>
                <a:latin typeface="Arial" panose="020B0604020202020204" pitchFamily="34" charset="0"/>
                <a:cs typeface="Arial" panose="020B0604020202020204" pitchFamily="34" charset="0"/>
              </a:rPr>
              <a:t>Fairness assessment indicated low bias across network activity groups.</a:t>
            </a:r>
          </a:p>
          <a:p>
            <a:endParaRPr lang="en-US" sz="650" dirty="0">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solidFill>
                  <a:schemeClr val="tx1">
                    <a:lumMod val="75000"/>
                    <a:lumOff val="25000"/>
                  </a:schemeClr>
                </a:solidFill>
                <a:latin typeface="Arial" panose="020B0604020202020204" pitchFamily="34" charset="0"/>
                <a:cs typeface="Arial" panose="020B0604020202020204" pitchFamily="34" charset="0"/>
              </a:rPr>
              <a:t>The model achieved </a:t>
            </a:r>
            <a:r>
              <a:rPr lang="en-US" sz="650" b="1" dirty="0">
                <a:solidFill>
                  <a:schemeClr val="tx1">
                    <a:lumMod val="95000"/>
                    <a:lumOff val="5000"/>
                  </a:schemeClr>
                </a:solidFill>
                <a:latin typeface="Arial" panose="020B0604020202020204" pitchFamily="34" charset="0"/>
                <a:cs typeface="Arial" panose="020B0604020202020204" pitchFamily="34" charset="0"/>
              </a:rPr>
              <a:t>88.47% accuracy</a:t>
            </a:r>
            <a:r>
              <a:rPr lang="en-US" sz="650" dirty="0">
                <a:solidFill>
                  <a:schemeClr val="tx1">
                    <a:lumMod val="95000"/>
                    <a:lumOff val="5000"/>
                  </a:schemeClr>
                </a:solidFill>
                <a:latin typeface="Arial" panose="020B0604020202020204" pitchFamily="34" charset="0"/>
                <a:cs typeface="Arial" panose="020B0604020202020204" pitchFamily="34" charset="0"/>
              </a:rPr>
              <a:t> </a:t>
            </a:r>
            <a:r>
              <a:rPr lang="en-US" sz="650" dirty="0">
                <a:solidFill>
                  <a:schemeClr val="tx1">
                    <a:lumMod val="75000"/>
                    <a:lumOff val="25000"/>
                  </a:schemeClr>
                </a:solidFill>
                <a:latin typeface="Arial" panose="020B0604020202020204" pitchFamily="34" charset="0"/>
                <a:cs typeface="Arial" panose="020B0604020202020204" pitchFamily="34" charset="0"/>
              </a:rPr>
              <a:t>while maintaining stable prediction performance.</a:t>
            </a:r>
          </a:p>
          <a:p>
            <a:pPr marL="171450" indent="-171450">
              <a:buFont typeface="Arial" panose="020B0604020202020204" pitchFamily="34" charset="0"/>
              <a:buChar char="•"/>
            </a:pPr>
            <a:endParaRPr lang="en-US" sz="650" dirty="0">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solidFill>
                  <a:schemeClr val="tx1">
                    <a:lumMod val="75000"/>
                    <a:lumOff val="25000"/>
                  </a:schemeClr>
                </a:solidFill>
                <a:latin typeface="Arial" panose="020B0604020202020204" pitchFamily="34" charset="0"/>
                <a:cs typeface="Arial" panose="020B0604020202020204" pitchFamily="34" charset="0"/>
              </a:rPr>
              <a:t>Drift detection reported a minimal drift score of </a:t>
            </a:r>
            <a:r>
              <a:rPr lang="en-US" sz="650" b="1" dirty="0">
                <a:solidFill>
                  <a:schemeClr val="tx1">
                    <a:lumMod val="95000"/>
                    <a:lumOff val="5000"/>
                  </a:schemeClr>
                </a:solidFill>
                <a:latin typeface="Arial" panose="020B0604020202020204" pitchFamily="34" charset="0"/>
                <a:cs typeface="Arial" panose="020B0604020202020204" pitchFamily="34" charset="0"/>
              </a:rPr>
              <a:t>0.0043</a:t>
            </a:r>
            <a:r>
              <a:rPr lang="en-US" sz="650" dirty="0">
                <a:solidFill>
                  <a:schemeClr val="tx1">
                    <a:lumMod val="75000"/>
                    <a:lumOff val="25000"/>
                  </a:schemeClr>
                </a:solidFill>
                <a:latin typeface="Arial" panose="020B0604020202020204" pitchFamily="34" charset="0"/>
                <a:cs typeface="Arial" panose="020B0604020202020204" pitchFamily="34" charset="0"/>
              </a:rPr>
              <a:t>, indicating stable operational behavior.</a:t>
            </a:r>
          </a:p>
          <a:p>
            <a:pPr marL="171450" indent="-171450">
              <a:buFont typeface="Arial" panose="020B0604020202020204" pitchFamily="34" charset="0"/>
              <a:buChar char="•"/>
            </a:pPr>
            <a:endParaRPr lang="en-US" sz="650" dirty="0">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solidFill>
                  <a:schemeClr val="tx1">
                    <a:lumMod val="75000"/>
                    <a:lumOff val="25000"/>
                  </a:schemeClr>
                </a:solidFill>
                <a:latin typeface="Arial" panose="020B0604020202020204" pitchFamily="34" charset="0"/>
                <a:cs typeface="Arial" panose="020B0604020202020204" pitchFamily="34" charset="0"/>
              </a:rPr>
              <a:t>The Responsible AI Dashboard generated an </a:t>
            </a:r>
            <a:r>
              <a:rPr lang="en-US" sz="650" b="1" dirty="0">
                <a:solidFill>
                  <a:schemeClr val="tx1">
                    <a:lumMod val="95000"/>
                    <a:lumOff val="5000"/>
                  </a:schemeClr>
                </a:solidFill>
                <a:latin typeface="Arial" panose="020B0604020202020204" pitchFamily="34" charset="0"/>
                <a:cs typeface="Arial" panose="020B0604020202020204" pitchFamily="34" charset="0"/>
              </a:rPr>
              <a:t>Overall Risk Score of 86/100</a:t>
            </a:r>
            <a:r>
              <a:rPr lang="en-US" sz="650" dirty="0">
                <a:solidFill>
                  <a:schemeClr val="tx1">
                    <a:lumMod val="75000"/>
                    <a:lumOff val="25000"/>
                  </a:schemeClr>
                </a:solidFill>
                <a:latin typeface="Arial" panose="020B0604020202020204" pitchFamily="34" charset="0"/>
                <a:cs typeface="Arial" panose="020B0604020202020204" pitchFamily="34" charset="0"/>
              </a:rPr>
              <a:t>, supporting governance and compliance decisions.</a:t>
            </a:r>
          </a:p>
          <a:p>
            <a:pPr marL="171450" indent="-171450">
              <a:buFont typeface="Arial" panose="020B0604020202020204" pitchFamily="34" charset="0"/>
              <a:buChar char="•"/>
            </a:pPr>
            <a:endParaRPr lang="en-US" sz="650" dirty="0">
              <a:solidFill>
                <a:schemeClr val="tx1">
                  <a:lumMod val="75000"/>
                  <a:lumOff val="25000"/>
                </a:scheme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solidFill>
                  <a:schemeClr val="tx1">
                    <a:lumMod val="75000"/>
                    <a:lumOff val="25000"/>
                  </a:schemeClr>
                </a:solidFill>
                <a:latin typeface="Arial" panose="020B0604020202020204" pitchFamily="34" charset="0"/>
                <a:cs typeface="Arial" panose="020B0604020202020204" pitchFamily="34" charset="0"/>
              </a:rPr>
              <a:t>Continuous monitoring improved transparency, accountability, and trust in AI-driven decision making.</a:t>
            </a:r>
          </a:p>
        </p:txBody>
      </p:sp>
      <p:sp>
        <p:nvSpPr>
          <p:cNvPr id="97" name="Shape 95"/>
          <p:cNvSpPr/>
          <p:nvPr/>
        </p:nvSpPr>
        <p:spPr>
          <a:xfrm>
            <a:off x="5321808" y="3813048"/>
            <a:ext cx="3931920" cy="274320"/>
          </a:xfrm>
          <a:prstGeom prst="rect">
            <a:avLst/>
          </a:prstGeom>
          <a:solidFill>
            <a:srgbClr val="1A5C38"/>
          </a:solidFill>
          <a:ln w="12700">
            <a:solidFill>
              <a:srgbClr val="1A5C38"/>
            </a:solidFill>
            <a:prstDash val="solid"/>
          </a:ln>
        </p:spPr>
      </p:sp>
      <p:sp>
        <p:nvSpPr>
          <p:cNvPr id="98" name="Text 96"/>
          <p:cNvSpPr/>
          <p:nvPr/>
        </p:nvSpPr>
        <p:spPr>
          <a:xfrm>
            <a:off x="5577188" y="3822192"/>
            <a:ext cx="3749040" cy="237744"/>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KEY RESULTS (HIGHLIGHTS)</a:t>
            </a:r>
            <a:endParaRPr lang="en-US" sz="800" dirty="0"/>
          </a:p>
        </p:txBody>
      </p:sp>
      <p:sp>
        <p:nvSpPr>
          <p:cNvPr id="99" name="Text 97"/>
          <p:cNvSpPr/>
          <p:nvPr/>
        </p:nvSpPr>
        <p:spPr>
          <a:xfrm>
            <a:off x="5413248" y="4142232"/>
            <a:ext cx="3749040" cy="1188720"/>
          </a:xfrm>
          <a:prstGeom prst="rect">
            <a:avLst/>
          </a:prstGeom>
          <a:noFill/>
          <a:ln/>
        </p:spPr>
        <p:txBody>
          <a:bodyPr wrap="square" rtlCol="0" anchor="t"/>
          <a:lstStyle/>
          <a:p>
            <a:pPr marL="0" indent="0">
              <a:buNone/>
            </a:pPr>
            <a:endParaRPr lang="en-US" sz="650" dirty="0">
              <a:latin typeface="Arial" panose="020B0604020202020204" pitchFamily="34" charset="0"/>
              <a:cs typeface="Arial" panose="020B0604020202020204" pitchFamily="34" charset="0"/>
            </a:endParaRPr>
          </a:p>
        </p:txBody>
      </p:sp>
      <p:sp>
        <p:nvSpPr>
          <p:cNvPr id="100" name="Text 98"/>
          <p:cNvSpPr/>
          <p:nvPr/>
        </p:nvSpPr>
        <p:spPr>
          <a:xfrm>
            <a:off x="73152" y="5504688"/>
            <a:ext cx="2240280" cy="182880"/>
          </a:xfrm>
          <a:prstGeom prst="rect">
            <a:avLst/>
          </a:prstGeom>
          <a:noFill/>
          <a:ln/>
        </p:spPr>
        <p:txBody>
          <a:bodyPr wrap="square" rtlCol="0" anchor="ctr"/>
          <a:lstStyle/>
          <a:p>
            <a:pPr marL="0" indent="0" algn="ctr">
              <a:buNone/>
            </a:pPr>
            <a:r>
              <a:rPr lang="en-US" sz="650" b="1" dirty="0">
                <a:solidFill>
                  <a:srgbClr val="1A5C38"/>
                </a:solidFill>
                <a:latin typeface="Arial" pitchFamily="34" charset="0"/>
                <a:ea typeface="Arial" pitchFamily="34" charset="-122"/>
                <a:cs typeface="Arial" pitchFamily="34" charset="-120"/>
              </a:rPr>
              <a:t>RQ1 – Feature Importance (SHAP)</a:t>
            </a:r>
            <a:endParaRPr lang="en-US" sz="650" dirty="0"/>
          </a:p>
        </p:txBody>
      </p:sp>
      <p:sp>
        <p:nvSpPr>
          <p:cNvPr id="101" name="Text 99"/>
          <p:cNvSpPr/>
          <p:nvPr/>
        </p:nvSpPr>
        <p:spPr>
          <a:xfrm>
            <a:off x="2395728" y="5504688"/>
            <a:ext cx="2240280" cy="182880"/>
          </a:xfrm>
          <a:prstGeom prst="rect">
            <a:avLst/>
          </a:prstGeom>
          <a:noFill/>
          <a:ln/>
        </p:spPr>
        <p:txBody>
          <a:bodyPr wrap="square" rtlCol="0" anchor="ctr"/>
          <a:lstStyle/>
          <a:p>
            <a:pPr marL="0" indent="0" algn="ctr">
              <a:buNone/>
            </a:pPr>
            <a:r>
              <a:rPr lang="en-US" sz="650" b="1" dirty="0">
                <a:solidFill>
                  <a:srgbClr val="1A5C38"/>
                </a:solidFill>
                <a:latin typeface="Arial" pitchFamily="34" charset="0"/>
                <a:ea typeface="Arial" pitchFamily="34" charset="-122"/>
                <a:cs typeface="Arial" pitchFamily="34" charset="-120"/>
              </a:rPr>
              <a:t>RQ2 – Fairness Assessment</a:t>
            </a:r>
            <a:endParaRPr lang="en-US" sz="650" dirty="0"/>
          </a:p>
        </p:txBody>
      </p:sp>
      <p:sp>
        <p:nvSpPr>
          <p:cNvPr id="102" name="Text 100"/>
          <p:cNvSpPr/>
          <p:nvPr/>
        </p:nvSpPr>
        <p:spPr>
          <a:xfrm>
            <a:off x="4718304" y="5504688"/>
            <a:ext cx="2240280" cy="182880"/>
          </a:xfrm>
          <a:prstGeom prst="rect">
            <a:avLst/>
          </a:prstGeom>
          <a:noFill/>
          <a:ln/>
        </p:spPr>
        <p:txBody>
          <a:bodyPr wrap="square" rtlCol="0" anchor="ctr"/>
          <a:lstStyle/>
          <a:p>
            <a:pPr marL="0" indent="0" algn="ctr">
              <a:buNone/>
            </a:pPr>
            <a:r>
              <a:rPr lang="en-US" sz="650" b="1" dirty="0">
                <a:solidFill>
                  <a:srgbClr val="1A5C38"/>
                </a:solidFill>
                <a:latin typeface="Arial" pitchFamily="34" charset="0"/>
                <a:ea typeface="Arial" pitchFamily="34" charset="-122"/>
                <a:cs typeface="Arial" pitchFamily="34" charset="-120"/>
              </a:rPr>
              <a:t>RQ3 – Model Performance Over Time</a:t>
            </a:r>
            <a:endParaRPr lang="en-US" sz="650" dirty="0"/>
          </a:p>
        </p:txBody>
      </p:sp>
      <p:sp>
        <p:nvSpPr>
          <p:cNvPr id="103" name="Text 101"/>
          <p:cNvSpPr/>
          <p:nvPr/>
        </p:nvSpPr>
        <p:spPr>
          <a:xfrm>
            <a:off x="7040880" y="5504688"/>
            <a:ext cx="2240280" cy="182880"/>
          </a:xfrm>
          <a:prstGeom prst="rect">
            <a:avLst/>
          </a:prstGeom>
          <a:noFill/>
          <a:ln/>
        </p:spPr>
        <p:txBody>
          <a:bodyPr wrap="square" rtlCol="0" anchor="ctr"/>
          <a:lstStyle/>
          <a:p>
            <a:pPr marL="0" indent="0" algn="ctr">
              <a:buNone/>
            </a:pPr>
            <a:r>
              <a:rPr lang="en-US" sz="650" b="1" dirty="0">
                <a:solidFill>
                  <a:srgbClr val="1A5C38"/>
                </a:solidFill>
                <a:latin typeface="Arial" pitchFamily="34" charset="0"/>
                <a:ea typeface="Arial" pitchFamily="34" charset="-122"/>
                <a:cs typeface="Arial" pitchFamily="34" charset="-120"/>
              </a:rPr>
              <a:t>RQ4 – Drift Detection</a:t>
            </a:r>
            <a:endParaRPr lang="en-US" sz="650" dirty="0"/>
          </a:p>
        </p:txBody>
      </p:sp>
      <p:graphicFrame>
        <p:nvGraphicFramePr>
          <p:cNvPr id="104" name="Chart 0"/>
          <p:cNvGraphicFramePr/>
          <p:nvPr>
            <p:extLst>
              <p:ext uri="{D42A27DB-BD31-4B8C-83A1-F6EECF244321}">
                <p14:modId xmlns:p14="http://schemas.microsoft.com/office/powerpoint/2010/main" val="2610337169"/>
              </p:ext>
            </p:extLst>
          </p:nvPr>
        </p:nvGraphicFramePr>
        <p:xfrm>
          <a:off x="73152" y="5705856"/>
          <a:ext cx="2240280" cy="14904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5" name="Chart 1"/>
          <p:cNvGraphicFramePr/>
          <p:nvPr>
            <p:extLst>
              <p:ext uri="{D42A27DB-BD31-4B8C-83A1-F6EECF244321}">
                <p14:modId xmlns:p14="http://schemas.microsoft.com/office/powerpoint/2010/main" val="1841421536"/>
              </p:ext>
            </p:extLst>
          </p:nvPr>
        </p:nvGraphicFramePr>
        <p:xfrm>
          <a:off x="2395728" y="5705856"/>
          <a:ext cx="2240280" cy="149047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6" name="Chart 2"/>
          <p:cNvGraphicFramePr/>
          <p:nvPr>
            <p:extLst>
              <p:ext uri="{D42A27DB-BD31-4B8C-83A1-F6EECF244321}">
                <p14:modId xmlns:p14="http://schemas.microsoft.com/office/powerpoint/2010/main" val="3134925512"/>
              </p:ext>
            </p:extLst>
          </p:nvPr>
        </p:nvGraphicFramePr>
        <p:xfrm>
          <a:off x="4718304" y="5705856"/>
          <a:ext cx="2240280" cy="149047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7" name="Chart 3"/>
          <p:cNvGraphicFramePr/>
          <p:nvPr>
            <p:extLst>
              <p:ext uri="{D42A27DB-BD31-4B8C-83A1-F6EECF244321}">
                <p14:modId xmlns:p14="http://schemas.microsoft.com/office/powerpoint/2010/main" val="3014653151"/>
              </p:ext>
            </p:extLst>
          </p:nvPr>
        </p:nvGraphicFramePr>
        <p:xfrm>
          <a:off x="7040880" y="5705856"/>
          <a:ext cx="2240280" cy="1490472"/>
        </p:xfrm>
        <a:graphic>
          <a:graphicData uri="http://schemas.openxmlformats.org/drawingml/2006/chart">
            <c:chart xmlns:c="http://schemas.openxmlformats.org/drawingml/2006/chart" xmlns:r="http://schemas.openxmlformats.org/officeDocument/2006/relationships" r:id="rId6"/>
          </a:graphicData>
        </a:graphic>
      </p:graphicFrame>
      <p:sp>
        <p:nvSpPr>
          <p:cNvPr id="108" name="Text 102"/>
          <p:cNvSpPr/>
          <p:nvPr/>
        </p:nvSpPr>
        <p:spPr>
          <a:xfrm>
            <a:off x="73152" y="7232904"/>
            <a:ext cx="2240280" cy="201168"/>
          </a:xfrm>
          <a:prstGeom prst="rect">
            <a:avLst/>
          </a:prstGeom>
          <a:noFill/>
          <a:ln/>
        </p:spPr>
        <p:txBody>
          <a:bodyPr wrap="square" rtlCol="0" anchor="ctr"/>
          <a:lstStyle/>
          <a:p>
            <a:pPr marL="0" indent="0" algn="ctr">
              <a:buNone/>
            </a:pPr>
            <a:r>
              <a:rPr lang="en-US" sz="550" i="1" dirty="0">
                <a:solidFill>
                  <a:srgbClr val="757575"/>
                </a:solidFill>
                <a:latin typeface="Arial" pitchFamily="34" charset="0"/>
                <a:ea typeface="Arial" pitchFamily="34" charset="-122"/>
                <a:cs typeface="Arial" pitchFamily="34" charset="-120"/>
              </a:rPr>
              <a:t>SHAP values show the impact of each feature on model predictions.</a:t>
            </a:r>
            <a:endParaRPr lang="en-US" sz="550" dirty="0"/>
          </a:p>
        </p:txBody>
      </p:sp>
      <p:sp>
        <p:nvSpPr>
          <p:cNvPr id="109" name="Text 103"/>
          <p:cNvSpPr/>
          <p:nvPr/>
        </p:nvSpPr>
        <p:spPr>
          <a:xfrm>
            <a:off x="2395728" y="7232904"/>
            <a:ext cx="2240280" cy="201168"/>
          </a:xfrm>
          <a:prstGeom prst="rect">
            <a:avLst/>
          </a:prstGeom>
          <a:noFill/>
          <a:ln/>
        </p:spPr>
        <p:txBody>
          <a:bodyPr wrap="square" rtlCol="0" anchor="ctr"/>
          <a:lstStyle/>
          <a:p>
            <a:pPr marL="0" indent="0" algn="ctr">
              <a:buNone/>
            </a:pPr>
            <a:r>
              <a:rPr lang="en-US" sz="550" i="1" dirty="0">
                <a:solidFill>
                  <a:srgbClr val="757575"/>
                </a:solidFill>
                <a:latin typeface="Arial" pitchFamily="34" charset="0"/>
                <a:ea typeface="Arial" pitchFamily="34" charset="-122"/>
                <a:cs typeface="Arial" pitchFamily="34" charset="-120"/>
              </a:rPr>
              <a:t>Fairness scores closer to 1 indicate lower bias across demographic groups.</a:t>
            </a:r>
            <a:endParaRPr lang="en-US" sz="550" dirty="0"/>
          </a:p>
        </p:txBody>
      </p:sp>
      <p:sp>
        <p:nvSpPr>
          <p:cNvPr id="110" name="Text 104"/>
          <p:cNvSpPr/>
          <p:nvPr/>
        </p:nvSpPr>
        <p:spPr>
          <a:xfrm>
            <a:off x="4718304" y="7232904"/>
            <a:ext cx="2240280" cy="201168"/>
          </a:xfrm>
          <a:prstGeom prst="rect">
            <a:avLst/>
          </a:prstGeom>
          <a:noFill/>
          <a:ln/>
        </p:spPr>
        <p:txBody>
          <a:bodyPr wrap="square" rtlCol="0" anchor="ctr"/>
          <a:lstStyle/>
          <a:p>
            <a:pPr marL="0" indent="0" algn="ctr">
              <a:buNone/>
            </a:pPr>
            <a:r>
              <a:rPr lang="en-US" sz="550" i="1" dirty="0">
                <a:solidFill>
                  <a:srgbClr val="757575"/>
                </a:solidFill>
                <a:latin typeface="Arial" pitchFamily="34" charset="0"/>
                <a:ea typeface="Arial" pitchFamily="34" charset="-122"/>
                <a:cs typeface="Arial" pitchFamily="34" charset="-120"/>
              </a:rPr>
              <a:t>Slight performance degradation observed over time.</a:t>
            </a:r>
            <a:endParaRPr lang="en-US" sz="550" dirty="0"/>
          </a:p>
        </p:txBody>
      </p:sp>
      <p:sp>
        <p:nvSpPr>
          <p:cNvPr id="111" name="Text 105"/>
          <p:cNvSpPr/>
          <p:nvPr/>
        </p:nvSpPr>
        <p:spPr>
          <a:xfrm>
            <a:off x="7040880" y="7232904"/>
            <a:ext cx="2240280" cy="201168"/>
          </a:xfrm>
          <a:prstGeom prst="rect">
            <a:avLst/>
          </a:prstGeom>
          <a:noFill/>
          <a:ln/>
        </p:spPr>
        <p:txBody>
          <a:bodyPr wrap="square" rtlCol="0" anchor="ctr"/>
          <a:lstStyle/>
          <a:p>
            <a:pPr marL="0" indent="0" algn="ctr">
              <a:buNone/>
            </a:pPr>
            <a:r>
              <a:rPr lang="en-US" sz="550" i="1" dirty="0">
                <a:solidFill>
                  <a:srgbClr val="757575"/>
                </a:solidFill>
                <a:latin typeface="Arial" pitchFamily="34" charset="0"/>
                <a:ea typeface="Arial" pitchFamily="34" charset="-122"/>
                <a:cs typeface="Arial" pitchFamily="34" charset="-120"/>
              </a:rPr>
              <a:t>Drift score increases over time indicating distribution changes in the data.</a:t>
            </a:r>
            <a:endParaRPr lang="en-US" sz="550" dirty="0"/>
          </a:p>
        </p:txBody>
      </p:sp>
      <p:sp>
        <p:nvSpPr>
          <p:cNvPr id="112" name="Shape 106"/>
          <p:cNvSpPr/>
          <p:nvPr/>
        </p:nvSpPr>
        <p:spPr>
          <a:xfrm>
            <a:off x="73152" y="7488936"/>
            <a:ext cx="5138928" cy="1417320"/>
          </a:xfrm>
          <a:prstGeom prst="rect">
            <a:avLst/>
          </a:prstGeom>
          <a:solidFill>
            <a:srgbClr val="FFFFFF"/>
          </a:solidFill>
          <a:ln w="12700">
            <a:solidFill>
              <a:srgbClr val="BDBDBD"/>
            </a:solidFill>
            <a:prstDash val="solid"/>
          </a:ln>
        </p:spPr>
      </p:sp>
      <p:sp>
        <p:nvSpPr>
          <p:cNvPr id="113" name="Text 107"/>
          <p:cNvSpPr/>
          <p:nvPr/>
        </p:nvSpPr>
        <p:spPr>
          <a:xfrm>
            <a:off x="164592" y="7543800"/>
            <a:ext cx="3200400" cy="201168"/>
          </a:xfrm>
          <a:prstGeom prst="rect">
            <a:avLst/>
          </a:prstGeom>
          <a:noFill/>
          <a:ln/>
        </p:spPr>
        <p:txBody>
          <a:bodyPr wrap="square" rtlCol="0" anchor="ctr"/>
          <a:lstStyle/>
          <a:p>
            <a:pPr marL="0" indent="0">
              <a:buNone/>
            </a:pPr>
            <a:r>
              <a:rPr lang="en-US" sz="750" b="1" dirty="0">
                <a:solidFill>
                  <a:srgbClr val="1A5C38"/>
                </a:solidFill>
                <a:latin typeface="Arial" pitchFamily="34" charset="0"/>
                <a:ea typeface="Arial" pitchFamily="34" charset="-122"/>
                <a:cs typeface="Arial" pitchFamily="34" charset="-120"/>
              </a:rPr>
              <a:t>RQ5 – Risk Assessment Summary</a:t>
            </a:r>
            <a:endParaRPr lang="en-US" sz="750" dirty="0"/>
          </a:p>
        </p:txBody>
      </p:sp>
      <p:sp>
        <p:nvSpPr>
          <p:cNvPr id="114" name="Shape 108"/>
          <p:cNvSpPr/>
          <p:nvPr/>
        </p:nvSpPr>
        <p:spPr>
          <a:xfrm>
            <a:off x="914400" y="7760493"/>
            <a:ext cx="1005840" cy="1005840"/>
          </a:xfrm>
          <a:prstGeom prst="ellipse">
            <a:avLst/>
          </a:prstGeom>
          <a:solidFill>
            <a:srgbClr val="FFF9C4"/>
          </a:solidFill>
          <a:ln w="25400">
            <a:solidFill>
              <a:srgbClr val="F9A825"/>
            </a:solidFill>
            <a:prstDash val="solid"/>
          </a:ln>
        </p:spPr>
      </p:sp>
      <p:sp>
        <p:nvSpPr>
          <p:cNvPr id="115" name="Text 109"/>
          <p:cNvSpPr/>
          <p:nvPr/>
        </p:nvSpPr>
        <p:spPr>
          <a:xfrm>
            <a:off x="914400" y="7924987"/>
            <a:ext cx="1005840" cy="411480"/>
          </a:xfrm>
          <a:prstGeom prst="rect">
            <a:avLst/>
          </a:prstGeom>
          <a:noFill/>
          <a:ln/>
        </p:spPr>
        <p:txBody>
          <a:bodyPr wrap="square" rtlCol="0" anchor="ctr"/>
          <a:lstStyle/>
          <a:p>
            <a:pPr marL="0" indent="0" algn="ctr">
              <a:buNone/>
            </a:pPr>
            <a:r>
              <a:rPr lang="en-US" sz="2800" b="1" dirty="0">
                <a:solidFill>
                  <a:srgbClr val="212121"/>
                </a:solidFill>
              </a:rPr>
              <a:t>86</a:t>
            </a:r>
            <a:endParaRPr lang="en-US" sz="2800" dirty="0"/>
          </a:p>
        </p:txBody>
      </p:sp>
      <p:sp>
        <p:nvSpPr>
          <p:cNvPr id="116" name="Text 110"/>
          <p:cNvSpPr/>
          <p:nvPr/>
        </p:nvSpPr>
        <p:spPr>
          <a:xfrm>
            <a:off x="731520" y="8422413"/>
            <a:ext cx="1371600" cy="274320"/>
          </a:xfrm>
          <a:prstGeom prst="rect">
            <a:avLst/>
          </a:prstGeom>
          <a:noFill/>
          <a:ln/>
        </p:spPr>
        <p:txBody>
          <a:bodyPr wrap="square" rtlCol="0" anchor="ctr"/>
          <a:lstStyle/>
          <a:p>
            <a:pPr marL="0" indent="0" algn="ctr">
              <a:buNone/>
            </a:pPr>
            <a:r>
              <a:rPr lang="en-US" sz="550" dirty="0">
                <a:solidFill>
                  <a:srgbClr val="424242"/>
                </a:solidFill>
              </a:rPr>
              <a:t>Overall Risk Score</a:t>
            </a:r>
            <a:endParaRPr lang="en-US" sz="550" dirty="0"/>
          </a:p>
          <a:p>
            <a:pPr marL="0" indent="0" algn="ctr">
              <a:buNone/>
            </a:pPr>
            <a:r>
              <a:rPr lang="en-US" sz="550" dirty="0">
                <a:solidFill>
                  <a:srgbClr val="424242"/>
                </a:solidFill>
              </a:rPr>
              <a:t>(out of 100)</a:t>
            </a:r>
            <a:endParaRPr lang="en-US" sz="550" dirty="0"/>
          </a:p>
        </p:txBody>
      </p:sp>
      <p:sp>
        <p:nvSpPr>
          <p:cNvPr id="117" name="Shape 111"/>
          <p:cNvSpPr/>
          <p:nvPr/>
        </p:nvSpPr>
        <p:spPr>
          <a:xfrm>
            <a:off x="2057400" y="7872984"/>
            <a:ext cx="128016" cy="128016"/>
          </a:xfrm>
          <a:prstGeom prst="ellipse">
            <a:avLst/>
          </a:prstGeom>
          <a:solidFill>
            <a:srgbClr val="4CAF50"/>
          </a:solidFill>
          <a:ln w="12700">
            <a:solidFill>
              <a:srgbClr val="4CAF50"/>
            </a:solidFill>
            <a:prstDash val="solid"/>
          </a:ln>
        </p:spPr>
      </p:sp>
      <p:sp>
        <p:nvSpPr>
          <p:cNvPr id="118" name="Text 112"/>
          <p:cNvSpPr/>
          <p:nvPr/>
        </p:nvSpPr>
        <p:spPr>
          <a:xfrm>
            <a:off x="2231136" y="7854696"/>
            <a:ext cx="1280160" cy="164592"/>
          </a:xfrm>
          <a:prstGeom prst="rect">
            <a:avLst/>
          </a:prstGeom>
          <a:noFill/>
          <a:ln/>
        </p:spPr>
        <p:txBody>
          <a:bodyPr wrap="square" rtlCol="0" anchor="ctr"/>
          <a:lstStyle/>
          <a:p>
            <a:pPr marL="0" indent="0">
              <a:buNone/>
            </a:pPr>
            <a:r>
              <a:rPr lang="en-US" sz="650" dirty="0">
                <a:solidFill>
                  <a:srgbClr val="424242"/>
                </a:solidFill>
                <a:latin typeface="Arial" pitchFamily="34" charset="0"/>
                <a:ea typeface="Arial" pitchFamily="34" charset="-122"/>
                <a:cs typeface="Arial" pitchFamily="34" charset="-120"/>
              </a:rPr>
              <a:t>0.00 – 0.05: No Drift</a:t>
            </a:r>
            <a:endParaRPr lang="en-US" sz="650" dirty="0"/>
          </a:p>
        </p:txBody>
      </p:sp>
      <p:sp>
        <p:nvSpPr>
          <p:cNvPr id="119" name="Shape 113"/>
          <p:cNvSpPr/>
          <p:nvPr/>
        </p:nvSpPr>
        <p:spPr>
          <a:xfrm>
            <a:off x="2057400" y="8129016"/>
            <a:ext cx="128016" cy="128016"/>
          </a:xfrm>
          <a:prstGeom prst="ellipse">
            <a:avLst/>
          </a:prstGeom>
          <a:solidFill>
            <a:srgbClr val="F9A825"/>
          </a:solidFill>
          <a:ln w="12700">
            <a:solidFill>
              <a:srgbClr val="F9A825"/>
            </a:solidFill>
            <a:prstDash val="solid"/>
          </a:ln>
        </p:spPr>
      </p:sp>
      <p:sp>
        <p:nvSpPr>
          <p:cNvPr id="120" name="Text 114"/>
          <p:cNvSpPr/>
          <p:nvPr/>
        </p:nvSpPr>
        <p:spPr>
          <a:xfrm>
            <a:off x="2231136" y="8110728"/>
            <a:ext cx="1280160" cy="164592"/>
          </a:xfrm>
          <a:prstGeom prst="rect">
            <a:avLst/>
          </a:prstGeom>
          <a:noFill/>
          <a:ln/>
        </p:spPr>
        <p:txBody>
          <a:bodyPr wrap="square" rtlCol="0" anchor="ctr"/>
          <a:lstStyle/>
          <a:p>
            <a:pPr marL="0" indent="0">
              <a:buNone/>
            </a:pPr>
            <a:r>
              <a:rPr lang="en-US" sz="650" dirty="0">
                <a:solidFill>
                  <a:srgbClr val="424242"/>
                </a:solidFill>
                <a:latin typeface="Arial" pitchFamily="34" charset="0"/>
                <a:ea typeface="Arial" pitchFamily="34" charset="-122"/>
                <a:cs typeface="Arial" pitchFamily="34" charset="-120"/>
              </a:rPr>
              <a:t>0.05 – 0.15: Minor Drift</a:t>
            </a:r>
            <a:endParaRPr lang="en-US" sz="650" dirty="0"/>
          </a:p>
        </p:txBody>
      </p:sp>
      <p:sp>
        <p:nvSpPr>
          <p:cNvPr id="121" name="Shape 115"/>
          <p:cNvSpPr/>
          <p:nvPr/>
        </p:nvSpPr>
        <p:spPr>
          <a:xfrm>
            <a:off x="2057400" y="8385048"/>
            <a:ext cx="128016" cy="128016"/>
          </a:xfrm>
          <a:prstGeom prst="ellipse">
            <a:avLst/>
          </a:prstGeom>
          <a:solidFill>
            <a:srgbClr val="F44336"/>
          </a:solidFill>
          <a:ln w="12700">
            <a:solidFill>
              <a:srgbClr val="F44336"/>
            </a:solidFill>
            <a:prstDash val="solid"/>
          </a:ln>
        </p:spPr>
      </p:sp>
      <p:sp>
        <p:nvSpPr>
          <p:cNvPr id="122" name="Text 116"/>
          <p:cNvSpPr/>
          <p:nvPr/>
        </p:nvSpPr>
        <p:spPr>
          <a:xfrm>
            <a:off x="2231136" y="8366760"/>
            <a:ext cx="1280160" cy="164592"/>
          </a:xfrm>
          <a:prstGeom prst="rect">
            <a:avLst/>
          </a:prstGeom>
          <a:noFill/>
          <a:ln/>
        </p:spPr>
        <p:txBody>
          <a:bodyPr wrap="square" rtlCol="0" anchor="ctr"/>
          <a:lstStyle/>
          <a:p>
            <a:pPr marL="0" indent="0">
              <a:buNone/>
            </a:pPr>
            <a:r>
              <a:rPr lang="en-US" sz="650" dirty="0">
                <a:solidFill>
                  <a:srgbClr val="424242"/>
                </a:solidFill>
                <a:latin typeface="Arial" pitchFamily="34" charset="0"/>
                <a:ea typeface="Arial" pitchFamily="34" charset="-122"/>
                <a:cs typeface="Arial" pitchFamily="34" charset="-120"/>
              </a:rPr>
              <a:t>&gt;0.15: Critical Drift</a:t>
            </a:r>
            <a:endParaRPr lang="en-US" sz="650" dirty="0"/>
          </a:p>
        </p:txBody>
      </p:sp>
      <p:sp>
        <p:nvSpPr>
          <p:cNvPr id="123" name="Text 117"/>
          <p:cNvSpPr/>
          <p:nvPr/>
        </p:nvSpPr>
        <p:spPr>
          <a:xfrm>
            <a:off x="189722" y="8776626"/>
            <a:ext cx="3200400" cy="128016"/>
          </a:xfrm>
          <a:prstGeom prst="rect">
            <a:avLst/>
          </a:prstGeom>
          <a:noFill/>
          <a:ln/>
        </p:spPr>
        <p:txBody>
          <a:bodyPr wrap="square" rtlCol="0" anchor="ctr"/>
          <a:lstStyle/>
          <a:p>
            <a:pPr marL="0" indent="0">
              <a:buNone/>
            </a:pPr>
            <a:r>
              <a:rPr lang="en-US" sz="550" i="1" dirty="0">
                <a:solidFill>
                  <a:srgbClr val="757575"/>
                </a:solidFill>
                <a:latin typeface="Arial" pitchFamily="34" charset="0"/>
                <a:ea typeface="Arial" pitchFamily="34" charset="-122"/>
                <a:cs typeface="Arial" pitchFamily="34" charset="-120"/>
              </a:rPr>
              <a:t>Aggregated risk score to support governance decisions.</a:t>
            </a:r>
            <a:endParaRPr lang="en-US" sz="550" dirty="0"/>
          </a:p>
        </p:txBody>
      </p:sp>
      <p:graphicFrame>
        <p:nvGraphicFramePr>
          <p:cNvPr id="124" name="Table 0"/>
          <p:cNvGraphicFramePr>
            <a:graphicFrameLocks noGrp="1"/>
          </p:cNvGraphicFramePr>
          <p:nvPr>
            <p:extLst>
              <p:ext uri="{D42A27DB-BD31-4B8C-83A1-F6EECF244321}">
                <p14:modId xmlns:p14="http://schemas.microsoft.com/office/powerpoint/2010/main" val="260889268"/>
              </p:ext>
            </p:extLst>
          </p:nvPr>
        </p:nvGraphicFramePr>
        <p:xfrm>
          <a:off x="5257800" y="7594651"/>
          <a:ext cx="1954484" cy="1188720"/>
        </p:xfrm>
        <a:graphic>
          <a:graphicData uri="http://schemas.openxmlformats.org/drawingml/2006/table">
            <a:tbl>
              <a:tblPr/>
              <a:tblGrid>
                <a:gridCol w="1256602">
                  <a:extLst>
                    <a:ext uri="{9D8B030D-6E8A-4147-A177-3AD203B41FA5}">
                      <a16:colId xmlns:a16="http://schemas.microsoft.com/office/drawing/2014/main" val="20000"/>
                    </a:ext>
                  </a:extLst>
                </a:gridCol>
                <a:gridCol w="697882">
                  <a:extLst>
                    <a:ext uri="{9D8B030D-6E8A-4147-A177-3AD203B41FA5}">
                      <a16:colId xmlns:a16="http://schemas.microsoft.com/office/drawing/2014/main" val="20001"/>
                    </a:ext>
                  </a:extLst>
                </a:gridCol>
              </a:tblGrid>
              <a:tr h="198120">
                <a:tc>
                  <a:txBody>
                    <a:bodyPr/>
                    <a:lstStyle/>
                    <a:p>
                      <a:pPr marL="0" indent="0">
                        <a:buNone/>
                      </a:pPr>
                      <a:r>
                        <a:rPr lang="en-US" sz="650" b="1" dirty="0">
                          <a:solidFill>
                            <a:srgbClr val="FFFFFF"/>
                          </a:solidFill>
                          <a:latin typeface="Arial" pitchFamily="34" charset="0"/>
                          <a:ea typeface="Arial" pitchFamily="34" charset="-122"/>
                          <a:cs typeface="Arial" pitchFamily="34" charset="-120"/>
                        </a:rPr>
                        <a:t>Metric</a:t>
                      </a:r>
                      <a:endParaRPr lang="en-US" sz="650" dirty="0">
                        <a:latin typeface="Arial" charset="0"/>
                        <a:ea typeface="Arial" charset="0"/>
                        <a:cs typeface="Arial"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1A5C38"/>
                    </a:solidFill>
                  </a:tcPr>
                </a:tc>
                <a:tc>
                  <a:txBody>
                    <a:bodyPr/>
                    <a:lstStyle/>
                    <a:p>
                      <a:pPr marL="0" indent="0">
                        <a:buNone/>
                      </a:pPr>
                      <a:r>
                        <a:rPr lang="en-US" sz="650" b="1" dirty="0">
                          <a:solidFill>
                            <a:srgbClr val="FFFFFF"/>
                          </a:solidFill>
                          <a:latin typeface="Arial" pitchFamily="34" charset="0"/>
                          <a:ea typeface="Arial" pitchFamily="34" charset="-122"/>
                          <a:cs typeface="Arial" pitchFamily="34" charset="-120"/>
                        </a:rPr>
                        <a:t>Score</a:t>
                      </a:r>
                      <a:endParaRPr lang="en-US" sz="650" dirty="0">
                        <a:latin typeface="Arial" charset="0"/>
                        <a:ea typeface="Arial" charset="0"/>
                        <a:cs typeface="Arial"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1A5C38"/>
                    </a:solidFill>
                  </a:tcPr>
                </a:tc>
                <a:extLst>
                  <a:ext uri="{0D108BD9-81ED-4DB2-BD59-A6C34878D82A}">
                    <a16:rowId xmlns:a16="http://schemas.microsoft.com/office/drawing/2014/main" val="10000"/>
                  </a:ext>
                </a:extLst>
              </a:tr>
              <a:tr h="198120">
                <a:tc>
                  <a:txBody>
                    <a:bodyPr/>
                    <a:lstStyle/>
                    <a:p>
                      <a:pPr marL="0" indent="0">
                        <a:buNone/>
                      </a:pPr>
                      <a:r>
                        <a:rPr lang="en-US" sz="650" dirty="0">
                          <a:solidFill>
                            <a:srgbClr val="000000"/>
                          </a:solidFill>
                          <a:latin typeface="Arial" pitchFamily="34" charset="0"/>
                          <a:ea typeface="Arial" pitchFamily="34" charset="-122"/>
                          <a:cs typeface="Arial" pitchFamily="34" charset="-120"/>
                        </a:rPr>
                        <a:t>Explainability Score</a:t>
                      </a:r>
                      <a:endParaRPr lang="en-US" sz="650" dirty="0">
                        <a:latin typeface="Arial" charset="0"/>
                        <a:ea typeface="Arial" charset="0"/>
                        <a:cs typeface="Arial"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AFAFA"/>
                    </a:solidFill>
                  </a:tcPr>
                </a:tc>
                <a:tc>
                  <a:txBody>
                    <a:bodyPr/>
                    <a:lstStyle/>
                    <a:p>
                      <a:pPr marL="0" indent="0">
                        <a:buNone/>
                      </a:pPr>
                      <a:r>
                        <a:rPr lang="en-US" sz="650" dirty="0">
                          <a:solidFill>
                            <a:srgbClr val="000000"/>
                          </a:solidFill>
                          <a:latin typeface="Arial" pitchFamily="34" charset="0"/>
                          <a:ea typeface="Arial" pitchFamily="34" charset="-122"/>
                          <a:cs typeface="Arial" pitchFamily="34" charset="-120"/>
                        </a:rPr>
                        <a:t>99/100</a:t>
                      </a:r>
                      <a:endParaRPr lang="en-US" sz="650" dirty="0">
                        <a:latin typeface="Arial" charset="0"/>
                        <a:ea typeface="Arial" charset="0"/>
                        <a:cs typeface="Arial"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AFAFA"/>
                    </a:solidFill>
                  </a:tcPr>
                </a:tc>
                <a:extLst>
                  <a:ext uri="{0D108BD9-81ED-4DB2-BD59-A6C34878D82A}">
                    <a16:rowId xmlns:a16="http://schemas.microsoft.com/office/drawing/2014/main" val="10001"/>
                  </a:ext>
                </a:extLst>
              </a:tr>
              <a:tr h="198120">
                <a:tc>
                  <a:txBody>
                    <a:bodyPr/>
                    <a:lstStyle/>
                    <a:p>
                      <a:pPr marL="0" indent="0">
                        <a:buNone/>
                      </a:pPr>
                      <a:r>
                        <a:rPr lang="en-US" sz="650" dirty="0">
                          <a:solidFill>
                            <a:srgbClr val="000000"/>
                          </a:solidFill>
                          <a:latin typeface="Arial" pitchFamily="34" charset="0"/>
                          <a:ea typeface="Arial" pitchFamily="34" charset="-122"/>
                          <a:cs typeface="Arial" pitchFamily="34" charset="-120"/>
                        </a:rPr>
                        <a:t>Fairness Score</a:t>
                      </a:r>
                      <a:endParaRPr lang="en-US" sz="650" dirty="0">
                        <a:latin typeface="Arial" charset="0"/>
                        <a:ea typeface="Arial" charset="0"/>
                        <a:cs typeface="Arial"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AFAFA"/>
                    </a:solidFill>
                  </a:tcPr>
                </a:tc>
                <a:tc>
                  <a:txBody>
                    <a:bodyPr/>
                    <a:lstStyle/>
                    <a:p>
                      <a:pPr marL="0" indent="0">
                        <a:buNone/>
                      </a:pPr>
                      <a:r>
                        <a:rPr lang="en-US" sz="650" dirty="0">
                          <a:solidFill>
                            <a:srgbClr val="000000"/>
                          </a:solidFill>
                          <a:latin typeface="Arial" pitchFamily="34" charset="0"/>
                          <a:ea typeface="Arial" pitchFamily="34" charset="-122"/>
                          <a:cs typeface="Arial" pitchFamily="34" charset="-120"/>
                        </a:rPr>
                        <a:t>89/100</a:t>
                      </a:r>
                      <a:endParaRPr lang="en-US" sz="650" dirty="0">
                        <a:latin typeface="Arial" charset="0"/>
                        <a:ea typeface="Arial" charset="0"/>
                        <a:cs typeface="Arial"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198120">
                <a:tc>
                  <a:txBody>
                    <a:bodyPr/>
                    <a:lstStyle/>
                    <a:p>
                      <a:pPr marL="0" indent="0">
                        <a:buNone/>
                      </a:pPr>
                      <a:r>
                        <a:rPr lang="en-US" sz="650" dirty="0">
                          <a:solidFill>
                            <a:srgbClr val="000000"/>
                          </a:solidFill>
                          <a:latin typeface="Arial" pitchFamily="34" charset="0"/>
                          <a:ea typeface="Arial" pitchFamily="34" charset="-122"/>
                          <a:cs typeface="Arial" pitchFamily="34" charset="-120"/>
                        </a:rPr>
                        <a:t>Stability Score</a:t>
                      </a:r>
                      <a:endParaRPr lang="en-US" sz="650" dirty="0">
                        <a:latin typeface="Arial" charset="0"/>
                        <a:ea typeface="Arial" charset="0"/>
                        <a:cs typeface="Arial"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AFAFA"/>
                    </a:solidFill>
                  </a:tcPr>
                </a:tc>
                <a:tc>
                  <a:txBody>
                    <a:bodyPr/>
                    <a:lstStyle/>
                    <a:p>
                      <a:pPr marL="0" indent="0">
                        <a:buNone/>
                      </a:pPr>
                      <a:r>
                        <a:rPr lang="en-US" sz="650" dirty="0">
                          <a:solidFill>
                            <a:srgbClr val="000000"/>
                          </a:solidFill>
                          <a:latin typeface="Arial" pitchFamily="34" charset="0"/>
                          <a:ea typeface="Arial" pitchFamily="34" charset="-122"/>
                          <a:cs typeface="Arial" pitchFamily="34" charset="-120"/>
                        </a:rPr>
                        <a:t>88/100</a:t>
                      </a:r>
                      <a:endParaRPr lang="en-US" sz="650" dirty="0">
                        <a:latin typeface="Arial" charset="0"/>
                        <a:ea typeface="Arial" charset="0"/>
                        <a:cs typeface="Arial"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AFAFA"/>
                    </a:solidFill>
                  </a:tcPr>
                </a:tc>
                <a:extLst>
                  <a:ext uri="{0D108BD9-81ED-4DB2-BD59-A6C34878D82A}">
                    <a16:rowId xmlns:a16="http://schemas.microsoft.com/office/drawing/2014/main" val="10003"/>
                  </a:ext>
                </a:extLst>
              </a:tr>
              <a:tr h="198120">
                <a:tc>
                  <a:txBody>
                    <a:bodyPr/>
                    <a:lstStyle/>
                    <a:p>
                      <a:pPr marL="0" indent="0">
                        <a:buNone/>
                      </a:pPr>
                      <a:r>
                        <a:rPr lang="en-US" sz="650" dirty="0">
                          <a:solidFill>
                            <a:srgbClr val="000000"/>
                          </a:solidFill>
                          <a:latin typeface="Arial" pitchFamily="34" charset="0"/>
                          <a:ea typeface="Arial" pitchFamily="34" charset="-122"/>
                          <a:cs typeface="Arial" pitchFamily="34" charset="-120"/>
                        </a:rPr>
                        <a:t>Compliance Score</a:t>
                      </a:r>
                      <a:endParaRPr lang="en-US" sz="650" dirty="0">
                        <a:latin typeface="Arial" charset="0"/>
                        <a:ea typeface="Arial" charset="0"/>
                        <a:cs typeface="Arial"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AFAFA"/>
                    </a:solidFill>
                  </a:tcPr>
                </a:tc>
                <a:tc>
                  <a:txBody>
                    <a:bodyPr/>
                    <a:lstStyle/>
                    <a:p>
                      <a:pPr marL="0" indent="0">
                        <a:buNone/>
                      </a:pPr>
                      <a:r>
                        <a:rPr lang="en-US" sz="650" dirty="0">
                          <a:solidFill>
                            <a:srgbClr val="000000"/>
                          </a:solidFill>
                          <a:latin typeface="Arial" pitchFamily="34" charset="0"/>
                          <a:ea typeface="Arial" charset="0"/>
                          <a:cs typeface="Arial" pitchFamily="34" charset="-120"/>
                        </a:rPr>
                        <a:t>90/100</a:t>
                      </a:r>
                      <a:endParaRPr lang="en-US" sz="650" dirty="0">
                        <a:latin typeface="Arial" charset="0"/>
                        <a:ea typeface="Arial" charset="0"/>
                        <a:cs typeface="Arial"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198120">
                <a:tc>
                  <a:txBody>
                    <a:bodyPr/>
                    <a:lstStyle/>
                    <a:p>
                      <a:pPr marL="0" indent="0">
                        <a:buNone/>
                      </a:pPr>
                      <a:r>
                        <a:rPr lang="en-US" sz="650" b="1" dirty="0">
                          <a:solidFill>
                            <a:srgbClr val="000000"/>
                          </a:solidFill>
                          <a:latin typeface="Arial" pitchFamily="34" charset="0"/>
                          <a:ea typeface="Arial" pitchFamily="34" charset="-122"/>
                          <a:cs typeface="Arial" pitchFamily="34" charset="-120"/>
                        </a:rPr>
                        <a:t>Overall Risk Score</a:t>
                      </a:r>
                      <a:endParaRPr lang="en-US" sz="650" dirty="0">
                        <a:latin typeface="Arial" charset="0"/>
                        <a:ea typeface="Arial" charset="0"/>
                        <a:cs typeface="Arial"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AFAFA"/>
                    </a:solidFill>
                  </a:tcPr>
                </a:tc>
                <a:tc>
                  <a:txBody>
                    <a:bodyPr/>
                    <a:lstStyle/>
                    <a:p>
                      <a:pPr marL="0" indent="0">
                        <a:buNone/>
                      </a:pPr>
                      <a:r>
                        <a:rPr lang="en-US" sz="650" b="1" dirty="0">
                          <a:solidFill>
                            <a:srgbClr val="212121"/>
                          </a:solidFill>
                          <a:latin typeface="Arial" pitchFamily="34" charset="0"/>
                          <a:ea typeface="Arial" pitchFamily="34" charset="-122"/>
                          <a:cs typeface="Arial" pitchFamily="34" charset="-120"/>
                        </a:rPr>
                        <a:t>86/100</a:t>
                      </a:r>
                      <a:endParaRPr lang="en-US" sz="650" dirty="0">
                        <a:latin typeface="Arial" charset="0"/>
                        <a:ea typeface="Arial" charset="0"/>
                        <a:cs typeface="Arial"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9A825"/>
                    </a:solidFill>
                  </a:tcPr>
                </a:tc>
                <a:extLst>
                  <a:ext uri="{0D108BD9-81ED-4DB2-BD59-A6C34878D82A}">
                    <a16:rowId xmlns:a16="http://schemas.microsoft.com/office/drawing/2014/main" val="10005"/>
                  </a:ext>
                </a:extLst>
              </a:tr>
            </a:tbl>
          </a:graphicData>
        </a:graphic>
      </p:graphicFrame>
      <p:sp>
        <p:nvSpPr>
          <p:cNvPr id="125" name="Shape 118"/>
          <p:cNvSpPr/>
          <p:nvPr/>
        </p:nvSpPr>
        <p:spPr>
          <a:xfrm>
            <a:off x="73152" y="8997696"/>
            <a:ext cx="6126480" cy="1965960"/>
          </a:xfrm>
          <a:prstGeom prst="rect">
            <a:avLst/>
          </a:prstGeom>
          <a:solidFill>
            <a:srgbClr val="FFFFFF"/>
          </a:solidFill>
          <a:ln w="12700">
            <a:solidFill>
              <a:srgbClr val="BDBDBD"/>
            </a:solidFill>
            <a:prstDash val="solid"/>
          </a:ln>
        </p:spPr>
      </p:sp>
      <p:sp>
        <p:nvSpPr>
          <p:cNvPr id="126" name="Shape 119"/>
          <p:cNvSpPr/>
          <p:nvPr/>
        </p:nvSpPr>
        <p:spPr>
          <a:xfrm>
            <a:off x="73152" y="8997696"/>
            <a:ext cx="6126480" cy="274320"/>
          </a:xfrm>
          <a:prstGeom prst="rect">
            <a:avLst/>
          </a:prstGeom>
          <a:solidFill>
            <a:srgbClr val="1A5C38"/>
          </a:solidFill>
          <a:ln w="12700">
            <a:solidFill>
              <a:srgbClr val="1A5C38"/>
            </a:solidFill>
            <a:prstDash val="solid"/>
          </a:ln>
        </p:spPr>
      </p:sp>
      <p:sp>
        <p:nvSpPr>
          <p:cNvPr id="127" name="Text 120"/>
          <p:cNvSpPr/>
          <p:nvPr/>
        </p:nvSpPr>
        <p:spPr>
          <a:xfrm>
            <a:off x="393192" y="9003121"/>
            <a:ext cx="5943600" cy="237744"/>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DASHBOARD SNAPSHOT (EXAMPLE)</a:t>
            </a:r>
            <a:endParaRPr lang="en-US" sz="800" dirty="0"/>
          </a:p>
        </p:txBody>
      </p:sp>
      <p:sp>
        <p:nvSpPr>
          <p:cNvPr id="128" name="Shape 121"/>
          <p:cNvSpPr/>
          <p:nvPr/>
        </p:nvSpPr>
        <p:spPr>
          <a:xfrm>
            <a:off x="128016" y="9326880"/>
            <a:ext cx="932688" cy="822960"/>
          </a:xfrm>
          <a:prstGeom prst="rect">
            <a:avLst/>
          </a:prstGeom>
          <a:solidFill>
            <a:srgbClr val="F1F8F1"/>
          </a:solidFill>
          <a:ln w="12700">
            <a:solidFill>
              <a:srgbClr val="4CAF50"/>
            </a:solidFill>
            <a:prstDash val="solid"/>
          </a:ln>
        </p:spPr>
      </p:sp>
      <p:sp>
        <p:nvSpPr>
          <p:cNvPr id="129" name="Text 122"/>
          <p:cNvSpPr/>
          <p:nvPr/>
        </p:nvSpPr>
        <p:spPr>
          <a:xfrm>
            <a:off x="146304" y="9345168"/>
            <a:ext cx="896112" cy="182880"/>
          </a:xfrm>
          <a:prstGeom prst="rect">
            <a:avLst/>
          </a:prstGeom>
          <a:noFill/>
          <a:ln/>
        </p:spPr>
        <p:txBody>
          <a:bodyPr wrap="square" rtlCol="0" anchor="ctr"/>
          <a:lstStyle/>
          <a:p>
            <a:pPr marL="0" indent="0" algn="ctr">
              <a:buNone/>
            </a:pPr>
            <a:r>
              <a:rPr lang="en-US" sz="550" b="1" dirty="0">
                <a:solidFill>
                  <a:srgbClr val="1A5C38"/>
                </a:solidFill>
                <a:latin typeface="Arial" pitchFamily="34" charset="0"/>
                <a:ea typeface="Arial" pitchFamily="34" charset="-122"/>
                <a:cs typeface="Arial" pitchFamily="34" charset="-120"/>
              </a:rPr>
              <a:t>Model Accuracy</a:t>
            </a:r>
            <a:endParaRPr lang="en-US" sz="550" dirty="0"/>
          </a:p>
        </p:txBody>
      </p:sp>
      <p:sp>
        <p:nvSpPr>
          <p:cNvPr id="130" name="Text 123"/>
          <p:cNvSpPr/>
          <p:nvPr/>
        </p:nvSpPr>
        <p:spPr>
          <a:xfrm>
            <a:off x="146304" y="9509760"/>
            <a:ext cx="896112" cy="274320"/>
          </a:xfrm>
          <a:prstGeom prst="rect">
            <a:avLst/>
          </a:prstGeom>
          <a:noFill/>
          <a:ln/>
        </p:spPr>
        <p:txBody>
          <a:bodyPr wrap="square" rtlCol="0" anchor="ctr"/>
          <a:lstStyle/>
          <a:p>
            <a:pPr marL="0" indent="0" algn="ctr">
              <a:buNone/>
            </a:pPr>
            <a:r>
              <a:rPr lang="en-US" sz="1400" b="1" dirty="0">
                <a:solidFill>
                  <a:srgbClr val="212121"/>
                </a:solidFill>
                <a:latin typeface="Arial" pitchFamily="34" charset="0"/>
                <a:ea typeface="Arial" pitchFamily="34" charset="-122"/>
                <a:cs typeface="Arial" pitchFamily="34" charset="-120"/>
              </a:rPr>
              <a:t>88.47%</a:t>
            </a:r>
            <a:endParaRPr lang="en-US" sz="1400" dirty="0"/>
          </a:p>
        </p:txBody>
      </p:sp>
      <p:sp>
        <p:nvSpPr>
          <p:cNvPr id="131" name="Text 124"/>
          <p:cNvSpPr/>
          <p:nvPr/>
        </p:nvSpPr>
        <p:spPr>
          <a:xfrm>
            <a:off x="146304" y="9802368"/>
            <a:ext cx="896112" cy="164592"/>
          </a:xfrm>
          <a:prstGeom prst="rect">
            <a:avLst/>
          </a:prstGeom>
          <a:noFill/>
          <a:ln/>
        </p:spPr>
        <p:txBody>
          <a:bodyPr wrap="square" rtlCol="0" anchor="ctr"/>
          <a:lstStyle/>
          <a:p>
            <a:pPr marL="0" indent="0" algn="ctr">
              <a:buNone/>
            </a:pPr>
            <a:r>
              <a:rPr lang="en-US" sz="550" dirty="0">
                <a:solidFill>
                  <a:srgbClr val="00796B"/>
                </a:solidFill>
                <a:latin typeface="Arial" pitchFamily="34" charset="0"/>
                <a:ea typeface="Arial" pitchFamily="34" charset="-122"/>
                <a:cs typeface="Arial" pitchFamily="34" charset="-120"/>
              </a:rPr>
              <a:t>↑ 2% vs last month</a:t>
            </a:r>
            <a:endParaRPr lang="en-US" sz="550" dirty="0"/>
          </a:p>
        </p:txBody>
      </p:sp>
      <p:sp>
        <p:nvSpPr>
          <p:cNvPr id="132" name="Shape 125"/>
          <p:cNvSpPr/>
          <p:nvPr/>
        </p:nvSpPr>
        <p:spPr>
          <a:xfrm>
            <a:off x="1133856" y="9326880"/>
            <a:ext cx="932688" cy="822960"/>
          </a:xfrm>
          <a:prstGeom prst="rect">
            <a:avLst/>
          </a:prstGeom>
          <a:solidFill>
            <a:srgbClr val="F1F8F1"/>
          </a:solidFill>
          <a:ln w="12700">
            <a:solidFill>
              <a:srgbClr val="4CAF50"/>
            </a:solidFill>
            <a:prstDash val="solid"/>
          </a:ln>
        </p:spPr>
      </p:sp>
      <p:sp>
        <p:nvSpPr>
          <p:cNvPr id="133" name="Text 126"/>
          <p:cNvSpPr/>
          <p:nvPr/>
        </p:nvSpPr>
        <p:spPr>
          <a:xfrm>
            <a:off x="1152144" y="9345168"/>
            <a:ext cx="896112" cy="182880"/>
          </a:xfrm>
          <a:prstGeom prst="rect">
            <a:avLst/>
          </a:prstGeom>
          <a:noFill/>
          <a:ln/>
        </p:spPr>
        <p:txBody>
          <a:bodyPr wrap="square" rtlCol="0" anchor="ctr"/>
          <a:lstStyle/>
          <a:p>
            <a:pPr marL="0" indent="0" algn="ctr">
              <a:buNone/>
            </a:pPr>
            <a:r>
              <a:rPr lang="en-US" sz="550" b="1" dirty="0">
                <a:solidFill>
                  <a:srgbClr val="1A5C38"/>
                </a:solidFill>
                <a:latin typeface="Arial" pitchFamily="34" charset="0"/>
                <a:ea typeface="Arial" pitchFamily="34" charset="-122"/>
                <a:cs typeface="Arial" pitchFamily="34" charset="-120"/>
              </a:rPr>
              <a:t>Fairness Score</a:t>
            </a:r>
            <a:endParaRPr lang="en-US" sz="550" dirty="0"/>
          </a:p>
        </p:txBody>
      </p:sp>
      <p:sp>
        <p:nvSpPr>
          <p:cNvPr id="134" name="Text 127"/>
          <p:cNvSpPr/>
          <p:nvPr/>
        </p:nvSpPr>
        <p:spPr>
          <a:xfrm>
            <a:off x="1152144" y="9509760"/>
            <a:ext cx="896112" cy="274320"/>
          </a:xfrm>
          <a:prstGeom prst="rect">
            <a:avLst/>
          </a:prstGeom>
          <a:noFill/>
          <a:ln/>
        </p:spPr>
        <p:txBody>
          <a:bodyPr wrap="square" rtlCol="0" anchor="ctr"/>
          <a:lstStyle/>
          <a:p>
            <a:pPr marL="0" indent="0" algn="ctr">
              <a:buNone/>
            </a:pPr>
            <a:r>
              <a:rPr lang="en-US" sz="1400" b="1" dirty="0">
                <a:solidFill>
                  <a:srgbClr val="212121"/>
                </a:solidFill>
                <a:latin typeface="Arial" pitchFamily="34" charset="0"/>
                <a:ea typeface="Arial" pitchFamily="34" charset="-122"/>
                <a:cs typeface="Arial" pitchFamily="34" charset="-120"/>
              </a:rPr>
              <a:t>89.42%</a:t>
            </a:r>
            <a:endParaRPr lang="en-US" sz="1400" dirty="0"/>
          </a:p>
        </p:txBody>
      </p:sp>
      <p:sp>
        <p:nvSpPr>
          <p:cNvPr id="135" name="Text 128"/>
          <p:cNvSpPr/>
          <p:nvPr/>
        </p:nvSpPr>
        <p:spPr>
          <a:xfrm>
            <a:off x="1152144" y="9802368"/>
            <a:ext cx="896112" cy="164592"/>
          </a:xfrm>
          <a:prstGeom prst="rect">
            <a:avLst/>
          </a:prstGeom>
          <a:noFill/>
          <a:ln/>
        </p:spPr>
        <p:txBody>
          <a:bodyPr wrap="square" rtlCol="0" anchor="ctr"/>
          <a:lstStyle/>
          <a:p>
            <a:pPr marL="0" indent="0" algn="ctr">
              <a:buNone/>
            </a:pPr>
            <a:r>
              <a:rPr lang="en-US" sz="550" dirty="0">
                <a:solidFill>
                  <a:srgbClr val="00796B"/>
                </a:solidFill>
                <a:latin typeface="Arial" pitchFamily="34" charset="0"/>
                <a:ea typeface="Arial" pitchFamily="34" charset="-122"/>
                <a:cs typeface="Arial" pitchFamily="34" charset="-120"/>
              </a:rPr>
              <a:t>↑ 3% vs last month</a:t>
            </a:r>
            <a:endParaRPr lang="en-US" sz="550" dirty="0"/>
          </a:p>
        </p:txBody>
      </p:sp>
      <p:sp>
        <p:nvSpPr>
          <p:cNvPr id="136" name="Shape 129"/>
          <p:cNvSpPr/>
          <p:nvPr/>
        </p:nvSpPr>
        <p:spPr>
          <a:xfrm>
            <a:off x="2139696" y="9326880"/>
            <a:ext cx="932688" cy="822960"/>
          </a:xfrm>
          <a:prstGeom prst="rect">
            <a:avLst/>
          </a:prstGeom>
          <a:solidFill>
            <a:srgbClr val="F1F8F1"/>
          </a:solidFill>
          <a:ln w="12700">
            <a:solidFill>
              <a:srgbClr val="4CAF50"/>
            </a:solidFill>
            <a:prstDash val="solid"/>
          </a:ln>
        </p:spPr>
      </p:sp>
      <p:sp>
        <p:nvSpPr>
          <p:cNvPr id="137" name="Text 130"/>
          <p:cNvSpPr/>
          <p:nvPr/>
        </p:nvSpPr>
        <p:spPr>
          <a:xfrm>
            <a:off x="2157984" y="9345168"/>
            <a:ext cx="896112" cy="182880"/>
          </a:xfrm>
          <a:prstGeom prst="rect">
            <a:avLst/>
          </a:prstGeom>
          <a:noFill/>
          <a:ln/>
        </p:spPr>
        <p:txBody>
          <a:bodyPr wrap="square" rtlCol="0" anchor="ctr"/>
          <a:lstStyle/>
          <a:p>
            <a:pPr marL="0" indent="0" algn="ctr">
              <a:buNone/>
            </a:pPr>
            <a:r>
              <a:rPr lang="en-US" sz="550" b="1" dirty="0">
                <a:solidFill>
                  <a:srgbClr val="1A5C38"/>
                </a:solidFill>
                <a:latin typeface="Arial" pitchFamily="34" charset="0"/>
                <a:ea typeface="Arial" pitchFamily="34" charset="-122"/>
                <a:cs typeface="Arial" pitchFamily="34" charset="-120"/>
              </a:rPr>
              <a:t>Drift Score</a:t>
            </a:r>
            <a:endParaRPr lang="en-US" sz="550" dirty="0"/>
          </a:p>
        </p:txBody>
      </p:sp>
      <p:sp>
        <p:nvSpPr>
          <p:cNvPr id="138" name="Text 131"/>
          <p:cNvSpPr/>
          <p:nvPr/>
        </p:nvSpPr>
        <p:spPr>
          <a:xfrm>
            <a:off x="2157984" y="9509760"/>
            <a:ext cx="896112" cy="274320"/>
          </a:xfrm>
          <a:prstGeom prst="rect">
            <a:avLst/>
          </a:prstGeom>
          <a:noFill/>
          <a:ln/>
        </p:spPr>
        <p:txBody>
          <a:bodyPr wrap="square" rtlCol="0" anchor="ctr"/>
          <a:lstStyle/>
          <a:p>
            <a:pPr marL="0" indent="0" algn="ctr">
              <a:buNone/>
            </a:pPr>
            <a:r>
              <a:rPr lang="en-US" sz="1400" b="1" dirty="0">
                <a:solidFill>
                  <a:srgbClr val="212121"/>
                </a:solidFill>
                <a:latin typeface="Arial" pitchFamily="34" charset="0"/>
                <a:ea typeface="Arial" pitchFamily="34" charset="-122"/>
                <a:cs typeface="Arial" pitchFamily="34" charset="-120"/>
              </a:rPr>
              <a:t>0.0043</a:t>
            </a:r>
            <a:endParaRPr lang="en-US" sz="1400" dirty="0"/>
          </a:p>
        </p:txBody>
      </p:sp>
      <p:sp>
        <p:nvSpPr>
          <p:cNvPr id="139" name="Text 132"/>
          <p:cNvSpPr/>
          <p:nvPr/>
        </p:nvSpPr>
        <p:spPr>
          <a:xfrm>
            <a:off x="2157984" y="9802368"/>
            <a:ext cx="896112" cy="164592"/>
          </a:xfrm>
          <a:prstGeom prst="rect">
            <a:avLst/>
          </a:prstGeom>
          <a:noFill/>
          <a:ln/>
        </p:spPr>
        <p:txBody>
          <a:bodyPr wrap="square" rtlCol="0" anchor="ctr"/>
          <a:lstStyle/>
          <a:p>
            <a:pPr marL="0" indent="0" algn="ctr">
              <a:buNone/>
            </a:pPr>
            <a:r>
              <a:rPr lang="en-US" sz="550" dirty="0">
                <a:solidFill>
                  <a:srgbClr val="00796B"/>
                </a:solidFill>
                <a:latin typeface="Arial" pitchFamily="34" charset="0"/>
                <a:cs typeface="Arial" pitchFamily="34" charset="-120"/>
              </a:rPr>
              <a:t>Stable</a:t>
            </a:r>
            <a:endParaRPr lang="en-US" sz="550" dirty="0"/>
          </a:p>
        </p:txBody>
      </p:sp>
      <p:sp>
        <p:nvSpPr>
          <p:cNvPr id="140" name="Shape 133"/>
          <p:cNvSpPr/>
          <p:nvPr/>
        </p:nvSpPr>
        <p:spPr>
          <a:xfrm>
            <a:off x="3145536" y="9326880"/>
            <a:ext cx="932688" cy="822960"/>
          </a:xfrm>
          <a:prstGeom prst="rect">
            <a:avLst/>
          </a:prstGeom>
          <a:solidFill>
            <a:srgbClr val="F1F8F1"/>
          </a:solidFill>
          <a:ln w="12700">
            <a:solidFill>
              <a:srgbClr val="4CAF50"/>
            </a:solidFill>
            <a:prstDash val="solid"/>
          </a:ln>
        </p:spPr>
      </p:sp>
      <p:sp>
        <p:nvSpPr>
          <p:cNvPr id="141" name="Text 134"/>
          <p:cNvSpPr/>
          <p:nvPr/>
        </p:nvSpPr>
        <p:spPr>
          <a:xfrm>
            <a:off x="3163824" y="9345168"/>
            <a:ext cx="896112" cy="182880"/>
          </a:xfrm>
          <a:prstGeom prst="rect">
            <a:avLst/>
          </a:prstGeom>
          <a:noFill/>
          <a:ln/>
        </p:spPr>
        <p:txBody>
          <a:bodyPr wrap="square" rtlCol="0" anchor="ctr"/>
          <a:lstStyle/>
          <a:p>
            <a:pPr marL="0" indent="0" algn="ctr">
              <a:buNone/>
            </a:pPr>
            <a:r>
              <a:rPr lang="en-US" sz="550" b="1" dirty="0">
                <a:solidFill>
                  <a:srgbClr val="1A5C38"/>
                </a:solidFill>
                <a:latin typeface="Arial" pitchFamily="34" charset="0"/>
                <a:ea typeface="Arial" pitchFamily="34" charset="-122"/>
                <a:cs typeface="Arial" pitchFamily="34" charset="-120"/>
              </a:rPr>
              <a:t>Explainability Score</a:t>
            </a:r>
            <a:endParaRPr lang="en-US" sz="550" dirty="0"/>
          </a:p>
        </p:txBody>
      </p:sp>
      <p:sp>
        <p:nvSpPr>
          <p:cNvPr id="142" name="Text 135"/>
          <p:cNvSpPr/>
          <p:nvPr/>
        </p:nvSpPr>
        <p:spPr>
          <a:xfrm>
            <a:off x="3163824" y="9509760"/>
            <a:ext cx="896112" cy="274320"/>
          </a:xfrm>
          <a:prstGeom prst="rect">
            <a:avLst/>
          </a:prstGeom>
          <a:noFill/>
          <a:ln/>
        </p:spPr>
        <p:txBody>
          <a:bodyPr wrap="square" rtlCol="0" anchor="ctr"/>
          <a:lstStyle/>
          <a:p>
            <a:pPr marL="0" indent="0" algn="ctr">
              <a:buNone/>
            </a:pPr>
            <a:r>
              <a:rPr lang="en-US" sz="1400" b="1" dirty="0">
                <a:solidFill>
                  <a:srgbClr val="212121"/>
                </a:solidFill>
                <a:latin typeface="Arial" pitchFamily="34" charset="0"/>
                <a:ea typeface="Arial" pitchFamily="34" charset="-122"/>
                <a:cs typeface="Arial" pitchFamily="34" charset="-120"/>
              </a:rPr>
              <a:t>99.14%</a:t>
            </a:r>
            <a:endParaRPr lang="en-US" sz="1400" dirty="0"/>
          </a:p>
        </p:txBody>
      </p:sp>
      <p:sp>
        <p:nvSpPr>
          <p:cNvPr id="143" name="Text 136"/>
          <p:cNvSpPr/>
          <p:nvPr/>
        </p:nvSpPr>
        <p:spPr>
          <a:xfrm>
            <a:off x="3163824" y="9802368"/>
            <a:ext cx="896112" cy="164592"/>
          </a:xfrm>
          <a:prstGeom prst="rect">
            <a:avLst/>
          </a:prstGeom>
          <a:noFill/>
          <a:ln/>
        </p:spPr>
        <p:txBody>
          <a:bodyPr wrap="square" rtlCol="0" anchor="ctr"/>
          <a:lstStyle/>
          <a:p>
            <a:pPr marL="0" indent="0" algn="ctr">
              <a:buNone/>
            </a:pPr>
            <a:r>
              <a:rPr lang="en-US" sz="550" dirty="0">
                <a:solidFill>
                  <a:srgbClr val="00796B"/>
                </a:solidFill>
                <a:latin typeface="Arial" pitchFamily="34" charset="0"/>
                <a:ea typeface="Arial" pitchFamily="34" charset="-122"/>
                <a:cs typeface="Arial" pitchFamily="34" charset="-120"/>
              </a:rPr>
              <a:t>↑ 5% vs last month</a:t>
            </a:r>
            <a:endParaRPr lang="en-US" sz="550" dirty="0"/>
          </a:p>
        </p:txBody>
      </p:sp>
      <p:sp>
        <p:nvSpPr>
          <p:cNvPr id="144" name="Shape 137"/>
          <p:cNvSpPr/>
          <p:nvPr/>
        </p:nvSpPr>
        <p:spPr>
          <a:xfrm>
            <a:off x="4151376" y="9326880"/>
            <a:ext cx="932688" cy="822960"/>
          </a:xfrm>
          <a:prstGeom prst="rect">
            <a:avLst/>
          </a:prstGeom>
          <a:solidFill>
            <a:srgbClr val="F1F8F1"/>
          </a:solidFill>
          <a:ln w="12700">
            <a:solidFill>
              <a:srgbClr val="4CAF50"/>
            </a:solidFill>
            <a:prstDash val="solid"/>
          </a:ln>
        </p:spPr>
      </p:sp>
      <p:sp>
        <p:nvSpPr>
          <p:cNvPr id="145" name="Text 138"/>
          <p:cNvSpPr/>
          <p:nvPr/>
        </p:nvSpPr>
        <p:spPr>
          <a:xfrm>
            <a:off x="4169664" y="9345168"/>
            <a:ext cx="896112" cy="182880"/>
          </a:xfrm>
          <a:prstGeom prst="rect">
            <a:avLst/>
          </a:prstGeom>
          <a:noFill/>
          <a:ln/>
        </p:spPr>
        <p:txBody>
          <a:bodyPr wrap="square" rtlCol="0" anchor="ctr"/>
          <a:lstStyle/>
          <a:p>
            <a:pPr marL="0" indent="0" algn="ctr">
              <a:buNone/>
            </a:pPr>
            <a:r>
              <a:rPr lang="en-US" sz="550" b="1" dirty="0">
                <a:solidFill>
                  <a:srgbClr val="1A5C38"/>
                </a:solidFill>
                <a:latin typeface="Arial" pitchFamily="34" charset="0"/>
                <a:ea typeface="Arial" pitchFamily="34" charset="-122"/>
                <a:cs typeface="Arial" pitchFamily="34" charset="-120"/>
              </a:rPr>
              <a:t>Compliance Status</a:t>
            </a:r>
            <a:endParaRPr lang="en-US" sz="550" dirty="0"/>
          </a:p>
        </p:txBody>
      </p:sp>
      <p:sp>
        <p:nvSpPr>
          <p:cNvPr id="146" name="Text 139"/>
          <p:cNvSpPr/>
          <p:nvPr/>
        </p:nvSpPr>
        <p:spPr>
          <a:xfrm>
            <a:off x="4169664" y="9509760"/>
            <a:ext cx="896112" cy="274320"/>
          </a:xfrm>
          <a:prstGeom prst="rect">
            <a:avLst/>
          </a:prstGeom>
          <a:noFill/>
          <a:ln/>
        </p:spPr>
        <p:txBody>
          <a:bodyPr wrap="square" rtlCol="0" anchor="ctr"/>
          <a:lstStyle/>
          <a:p>
            <a:pPr marL="0" indent="0" algn="ctr">
              <a:buNone/>
            </a:pPr>
            <a:r>
              <a:rPr lang="en-US" sz="1400" b="1" dirty="0">
                <a:solidFill>
                  <a:srgbClr val="212121"/>
                </a:solidFill>
                <a:latin typeface="Arial" pitchFamily="34" charset="0"/>
                <a:ea typeface="Arial" pitchFamily="34" charset="-122"/>
                <a:cs typeface="Arial" pitchFamily="34" charset="-120"/>
              </a:rPr>
              <a:t>PASS</a:t>
            </a:r>
            <a:endParaRPr lang="en-US" sz="1400" dirty="0"/>
          </a:p>
        </p:txBody>
      </p:sp>
      <p:sp>
        <p:nvSpPr>
          <p:cNvPr id="147" name="Text 140"/>
          <p:cNvSpPr/>
          <p:nvPr/>
        </p:nvSpPr>
        <p:spPr>
          <a:xfrm>
            <a:off x="4169664" y="9802368"/>
            <a:ext cx="896112" cy="164592"/>
          </a:xfrm>
          <a:prstGeom prst="rect">
            <a:avLst/>
          </a:prstGeom>
          <a:noFill/>
          <a:ln/>
        </p:spPr>
        <p:txBody>
          <a:bodyPr wrap="square" rtlCol="0" anchor="ctr"/>
          <a:lstStyle/>
          <a:p>
            <a:pPr marL="0" indent="0" algn="ctr">
              <a:buNone/>
            </a:pPr>
            <a:r>
              <a:rPr lang="en-US" sz="550" dirty="0">
                <a:solidFill>
                  <a:srgbClr val="00796B"/>
                </a:solidFill>
                <a:latin typeface="Arial" pitchFamily="34" charset="0"/>
                <a:ea typeface="Arial" pitchFamily="34" charset="-122"/>
                <a:cs typeface="Arial" pitchFamily="34" charset="-120"/>
              </a:rPr>
              <a:t>All checks passed</a:t>
            </a:r>
            <a:endParaRPr lang="en-US" sz="550" dirty="0"/>
          </a:p>
        </p:txBody>
      </p:sp>
      <p:sp>
        <p:nvSpPr>
          <p:cNvPr id="148" name="Shape 141"/>
          <p:cNvSpPr/>
          <p:nvPr/>
        </p:nvSpPr>
        <p:spPr>
          <a:xfrm>
            <a:off x="5157216" y="9326880"/>
            <a:ext cx="932688" cy="822960"/>
          </a:xfrm>
          <a:prstGeom prst="rect">
            <a:avLst/>
          </a:prstGeom>
          <a:solidFill>
            <a:srgbClr val="F1F8F1"/>
          </a:solidFill>
          <a:ln w="12700">
            <a:solidFill>
              <a:srgbClr val="4CAF50"/>
            </a:solidFill>
            <a:prstDash val="solid"/>
          </a:ln>
        </p:spPr>
      </p:sp>
      <p:sp>
        <p:nvSpPr>
          <p:cNvPr id="149" name="Text 142"/>
          <p:cNvSpPr/>
          <p:nvPr/>
        </p:nvSpPr>
        <p:spPr>
          <a:xfrm>
            <a:off x="5175504" y="9345168"/>
            <a:ext cx="896112" cy="182880"/>
          </a:xfrm>
          <a:prstGeom prst="rect">
            <a:avLst/>
          </a:prstGeom>
          <a:noFill/>
          <a:ln/>
        </p:spPr>
        <p:txBody>
          <a:bodyPr wrap="square" rtlCol="0" anchor="ctr"/>
          <a:lstStyle/>
          <a:p>
            <a:pPr marL="0" indent="0" algn="ctr">
              <a:buNone/>
            </a:pPr>
            <a:r>
              <a:rPr lang="en-US" sz="550" b="1" dirty="0">
                <a:solidFill>
                  <a:srgbClr val="1A5C38"/>
                </a:solidFill>
                <a:latin typeface="Arial" pitchFamily="34" charset="0"/>
                <a:ea typeface="Arial" pitchFamily="34" charset="-122"/>
                <a:cs typeface="Arial" pitchFamily="34" charset="-120"/>
              </a:rPr>
              <a:t>Overall Risk Score</a:t>
            </a:r>
            <a:endParaRPr lang="en-US" sz="550" dirty="0"/>
          </a:p>
        </p:txBody>
      </p:sp>
      <p:sp>
        <p:nvSpPr>
          <p:cNvPr id="150" name="Text 143"/>
          <p:cNvSpPr/>
          <p:nvPr/>
        </p:nvSpPr>
        <p:spPr>
          <a:xfrm>
            <a:off x="5175504" y="9509760"/>
            <a:ext cx="896112" cy="274320"/>
          </a:xfrm>
          <a:prstGeom prst="rect">
            <a:avLst/>
          </a:prstGeom>
          <a:noFill/>
          <a:ln/>
        </p:spPr>
        <p:txBody>
          <a:bodyPr wrap="square" rtlCol="0" anchor="ctr"/>
          <a:lstStyle/>
          <a:p>
            <a:pPr marL="0" indent="0" algn="ctr">
              <a:buNone/>
            </a:pPr>
            <a:r>
              <a:rPr lang="en-US" sz="1400" b="1" dirty="0">
                <a:solidFill>
                  <a:srgbClr val="212121"/>
                </a:solidFill>
                <a:latin typeface="Arial" pitchFamily="34" charset="0"/>
                <a:ea typeface="Arial" pitchFamily="34" charset="-122"/>
                <a:cs typeface="Arial" pitchFamily="34" charset="-120"/>
              </a:rPr>
              <a:t>86/100</a:t>
            </a:r>
            <a:endParaRPr lang="en-US" sz="1400" dirty="0"/>
          </a:p>
        </p:txBody>
      </p:sp>
      <p:sp>
        <p:nvSpPr>
          <p:cNvPr id="151" name="Text 144"/>
          <p:cNvSpPr/>
          <p:nvPr/>
        </p:nvSpPr>
        <p:spPr>
          <a:xfrm>
            <a:off x="5175504" y="9802368"/>
            <a:ext cx="896112" cy="164592"/>
          </a:xfrm>
          <a:prstGeom prst="rect">
            <a:avLst/>
          </a:prstGeom>
          <a:noFill/>
          <a:ln/>
        </p:spPr>
        <p:txBody>
          <a:bodyPr wrap="square" rtlCol="0" anchor="ctr"/>
          <a:lstStyle/>
          <a:p>
            <a:pPr marL="0" indent="0" algn="ctr">
              <a:buNone/>
            </a:pPr>
            <a:r>
              <a:rPr lang="en-US" sz="550" dirty="0">
                <a:solidFill>
                  <a:srgbClr val="00796B"/>
                </a:solidFill>
                <a:latin typeface="Arial" pitchFamily="34" charset="0"/>
                <a:ea typeface="Arial" pitchFamily="34" charset="-122"/>
                <a:cs typeface="Arial" pitchFamily="34" charset="-120"/>
              </a:rPr>
              <a:t>Low Risk</a:t>
            </a:r>
            <a:endParaRPr lang="en-US" sz="550" dirty="0"/>
          </a:p>
        </p:txBody>
      </p:sp>
      <p:sp>
        <p:nvSpPr>
          <p:cNvPr id="152" name="Shape 145"/>
          <p:cNvSpPr/>
          <p:nvPr/>
        </p:nvSpPr>
        <p:spPr>
          <a:xfrm>
            <a:off x="128016" y="10232136"/>
            <a:ext cx="5989320" cy="640080"/>
          </a:xfrm>
          <a:prstGeom prst="rect">
            <a:avLst/>
          </a:prstGeom>
          <a:solidFill>
            <a:srgbClr val="FFF8E1"/>
          </a:solidFill>
          <a:ln w="12700">
            <a:solidFill>
              <a:srgbClr val="F9A825"/>
            </a:solidFill>
            <a:prstDash val="solid"/>
          </a:ln>
        </p:spPr>
      </p:sp>
      <p:sp>
        <p:nvSpPr>
          <p:cNvPr id="153" name="Text 146"/>
          <p:cNvSpPr/>
          <p:nvPr/>
        </p:nvSpPr>
        <p:spPr>
          <a:xfrm>
            <a:off x="301752" y="10277856"/>
            <a:ext cx="1371600" cy="164592"/>
          </a:xfrm>
          <a:prstGeom prst="rect">
            <a:avLst/>
          </a:prstGeom>
          <a:noFill/>
          <a:ln/>
        </p:spPr>
        <p:txBody>
          <a:bodyPr wrap="square" rtlCol="0" anchor="ctr"/>
          <a:lstStyle/>
          <a:p>
            <a:pPr marL="0" indent="0">
              <a:buNone/>
            </a:pPr>
            <a:r>
              <a:rPr lang="en-US" sz="650" b="1" dirty="0">
                <a:solidFill>
                  <a:srgbClr val="212121"/>
                </a:solidFill>
                <a:latin typeface="Arial" pitchFamily="34" charset="0"/>
                <a:ea typeface="Arial" pitchFamily="34" charset="-122"/>
                <a:cs typeface="Arial" pitchFamily="34" charset="-120"/>
              </a:rPr>
              <a:t>Alerts &amp; Insights</a:t>
            </a:r>
            <a:endParaRPr lang="en-US" sz="650" dirty="0"/>
          </a:p>
        </p:txBody>
      </p:sp>
      <p:sp>
        <p:nvSpPr>
          <p:cNvPr id="154" name="Text 147"/>
          <p:cNvSpPr/>
          <p:nvPr/>
        </p:nvSpPr>
        <p:spPr>
          <a:xfrm>
            <a:off x="201168" y="10442448"/>
            <a:ext cx="1417320" cy="384048"/>
          </a:xfrm>
          <a:prstGeom prst="rect">
            <a:avLst/>
          </a:prstGeom>
          <a:noFill/>
          <a:ln/>
        </p:spPr>
        <p:txBody>
          <a:bodyPr wrap="square" rtlCol="0" anchor="t"/>
          <a:lstStyle/>
          <a:p>
            <a:pPr marL="0" indent="0">
              <a:buNone/>
            </a:pPr>
            <a:r>
              <a:rPr lang="en-US" sz="600" dirty="0">
                <a:solidFill>
                  <a:srgbClr val="424242"/>
                </a:solidFill>
                <a:latin typeface="Arial" pitchFamily="34" charset="0"/>
                <a:ea typeface="Arial" pitchFamily="34" charset="-122"/>
                <a:cs typeface="Arial" pitchFamily="34" charset="-120"/>
              </a:rPr>
              <a:t>• </a:t>
            </a:r>
            <a:r>
              <a:rPr lang="en-US" sz="600" dirty="0">
                <a:solidFill>
                  <a:schemeClr val="accent6">
                    <a:lumMod val="50000"/>
                  </a:schemeClr>
                </a:solidFill>
                <a:latin typeface="Arial" panose="020B0604020202020204" pitchFamily="34" charset="0"/>
                <a:cs typeface="Arial" panose="020B0604020202020204" pitchFamily="34" charset="0"/>
              </a:rPr>
              <a:t>Drift score remains within acceptable threshold.</a:t>
            </a:r>
          </a:p>
        </p:txBody>
      </p:sp>
      <p:sp>
        <p:nvSpPr>
          <p:cNvPr id="155" name="Text 148"/>
          <p:cNvSpPr/>
          <p:nvPr/>
        </p:nvSpPr>
        <p:spPr>
          <a:xfrm>
            <a:off x="1682496" y="10442448"/>
            <a:ext cx="1417320" cy="384048"/>
          </a:xfrm>
          <a:prstGeom prst="rect">
            <a:avLst/>
          </a:prstGeom>
          <a:noFill/>
          <a:ln/>
        </p:spPr>
        <p:txBody>
          <a:bodyPr wrap="square" rtlCol="0" anchor="t"/>
          <a:lstStyle/>
          <a:p>
            <a:pPr marL="0" indent="0">
              <a:buNone/>
            </a:pPr>
            <a:r>
              <a:rPr lang="en-US" sz="600" dirty="0">
                <a:solidFill>
                  <a:schemeClr val="accent6">
                    <a:lumMod val="50000"/>
                  </a:schemeClr>
                </a:solidFill>
                <a:latin typeface="Arial" panose="020B0604020202020204" pitchFamily="34" charset="0"/>
                <a:ea typeface="Arial" pitchFamily="34" charset="-122"/>
                <a:cs typeface="Arial" panose="020B0604020202020204" pitchFamily="34" charset="0"/>
              </a:rPr>
              <a:t>• </a:t>
            </a:r>
            <a:r>
              <a:rPr lang="en-US" sz="600" dirty="0">
                <a:solidFill>
                  <a:schemeClr val="accent6">
                    <a:lumMod val="50000"/>
                  </a:schemeClr>
                </a:solidFill>
                <a:latin typeface="Arial" panose="020B0604020202020204" pitchFamily="34" charset="0"/>
                <a:cs typeface="Arial" panose="020B0604020202020204" pitchFamily="34" charset="0"/>
              </a:rPr>
              <a:t>Explainability analysis identified high-impact prediction features.</a:t>
            </a:r>
          </a:p>
        </p:txBody>
      </p:sp>
      <p:sp>
        <p:nvSpPr>
          <p:cNvPr id="156" name="Text 149"/>
          <p:cNvSpPr/>
          <p:nvPr/>
        </p:nvSpPr>
        <p:spPr>
          <a:xfrm>
            <a:off x="3163824" y="10442448"/>
            <a:ext cx="1417320" cy="384048"/>
          </a:xfrm>
          <a:prstGeom prst="rect">
            <a:avLst/>
          </a:prstGeom>
          <a:noFill/>
          <a:ln/>
        </p:spPr>
        <p:txBody>
          <a:bodyPr wrap="square" rtlCol="0" anchor="t"/>
          <a:lstStyle/>
          <a:p>
            <a:pPr marL="0" indent="0">
              <a:buNone/>
            </a:pPr>
            <a:r>
              <a:rPr lang="en-US" sz="600" dirty="0">
                <a:solidFill>
                  <a:srgbClr val="424242"/>
                </a:solidFill>
                <a:latin typeface="Arial" pitchFamily="34" charset="0"/>
                <a:ea typeface="Arial" pitchFamily="34" charset="-122"/>
                <a:cs typeface="Arial" pitchFamily="34" charset="-120"/>
              </a:rPr>
              <a:t>• </a:t>
            </a:r>
            <a:r>
              <a:rPr lang="en-US" sz="600" dirty="0">
                <a:solidFill>
                  <a:schemeClr val="accent6">
                    <a:lumMod val="50000"/>
                  </a:schemeClr>
                </a:solidFill>
                <a:latin typeface="Arial" panose="020B0604020202020204" pitchFamily="34" charset="0"/>
                <a:cs typeface="Arial" panose="020B0604020202020204" pitchFamily="34" charset="0"/>
              </a:rPr>
              <a:t>Fairness metrics remain within governance limits.</a:t>
            </a:r>
          </a:p>
        </p:txBody>
      </p:sp>
      <p:sp>
        <p:nvSpPr>
          <p:cNvPr id="157" name="Text 150"/>
          <p:cNvSpPr/>
          <p:nvPr/>
        </p:nvSpPr>
        <p:spPr>
          <a:xfrm>
            <a:off x="4645152" y="10442448"/>
            <a:ext cx="1417320" cy="384048"/>
          </a:xfrm>
          <a:prstGeom prst="rect">
            <a:avLst/>
          </a:prstGeom>
          <a:noFill/>
          <a:ln/>
        </p:spPr>
        <p:txBody>
          <a:bodyPr wrap="square" rtlCol="0" anchor="t"/>
          <a:lstStyle/>
          <a:p>
            <a:pPr marL="0" indent="0">
              <a:buNone/>
            </a:pPr>
            <a:r>
              <a:rPr lang="en-US" sz="600" dirty="0">
                <a:solidFill>
                  <a:schemeClr val="accent6">
                    <a:lumMod val="50000"/>
                  </a:schemeClr>
                </a:solidFill>
                <a:latin typeface="Arial" panose="020B0604020202020204" pitchFamily="34" charset="0"/>
                <a:ea typeface="Arial" pitchFamily="34" charset="-122"/>
                <a:cs typeface="Arial" panose="020B0604020202020204" pitchFamily="34" charset="0"/>
              </a:rPr>
              <a:t>• </a:t>
            </a:r>
            <a:r>
              <a:rPr lang="en-US" sz="600" dirty="0">
                <a:solidFill>
                  <a:schemeClr val="accent6">
                    <a:lumMod val="50000"/>
                  </a:schemeClr>
                </a:solidFill>
                <a:latin typeface="Arial" panose="020B0604020202020204" pitchFamily="34" charset="0"/>
                <a:cs typeface="Arial" panose="020B0604020202020204" pitchFamily="34" charset="0"/>
              </a:rPr>
              <a:t>Continue periodic monitoring and model validation.</a:t>
            </a:r>
          </a:p>
        </p:txBody>
      </p:sp>
      <p:sp>
        <p:nvSpPr>
          <p:cNvPr id="158" name="Shape 151"/>
          <p:cNvSpPr/>
          <p:nvPr/>
        </p:nvSpPr>
        <p:spPr>
          <a:xfrm>
            <a:off x="6291072" y="8997696"/>
            <a:ext cx="2962656" cy="1965960"/>
          </a:xfrm>
          <a:prstGeom prst="rect">
            <a:avLst/>
          </a:prstGeom>
          <a:solidFill>
            <a:srgbClr val="FFFFFF"/>
          </a:solidFill>
          <a:ln w="12700">
            <a:solidFill>
              <a:srgbClr val="BDBDBD"/>
            </a:solidFill>
            <a:prstDash val="solid"/>
          </a:ln>
        </p:spPr>
        <p:txBody>
          <a:bodyPr/>
          <a:lstStyle/>
          <a:p>
            <a:endParaRPr lang="en-US" dirty="0"/>
          </a:p>
        </p:txBody>
      </p:sp>
      <p:sp>
        <p:nvSpPr>
          <p:cNvPr id="159" name="Shape 152"/>
          <p:cNvSpPr/>
          <p:nvPr/>
        </p:nvSpPr>
        <p:spPr>
          <a:xfrm>
            <a:off x="6291072" y="8997696"/>
            <a:ext cx="2962656" cy="274320"/>
          </a:xfrm>
          <a:prstGeom prst="rect">
            <a:avLst/>
          </a:prstGeom>
          <a:solidFill>
            <a:srgbClr val="1A5C38"/>
          </a:solidFill>
          <a:ln w="12700">
            <a:solidFill>
              <a:srgbClr val="1A5C38"/>
            </a:solidFill>
            <a:prstDash val="solid"/>
          </a:ln>
        </p:spPr>
      </p:sp>
      <p:sp>
        <p:nvSpPr>
          <p:cNvPr id="160" name="Text 153"/>
          <p:cNvSpPr/>
          <p:nvPr/>
        </p:nvSpPr>
        <p:spPr>
          <a:xfrm>
            <a:off x="6382512" y="9015984"/>
            <a:ext cx="2779776" cy="237744"/>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CONTRIBUTIONS</a:t>
            </a:r>
            <a:endParaRPr lang="en-US" sz="800" dirty="0"/>
          </a:p>
        </p:txBody>
      </p:sp>
      <p:sp>
        <p:nvSpPr>
          <p:cNvPr id="162" name="Text 155"/>
          <p:cNvSpPr/>
          <p:nvPr/>
        </p:nvSpPr>
        <p:spPr>
          <a:xfrm>
            <a:off x="6528816" y="9326880"/>
            <a:ext cx="2651760" cy="237744"/>
          </a:xfrm>
          <a:prstGeom prst="rect">
            <a:avLst/>
          </a:prstGeom>
          <a:noFill/>
          <a:ln/>
        </p:spPr>
        <p:txBody>
          <a:bodyPr wrap="square" rtlCol="0" anchor="ctr"/>
          <a:lstStyle/>
          <a:p>
            <a:pPr marL="0" indent="0">
              <a:buNone/>
            </a:pPr>
            <a:r>
              <a:rPr lang="en-US" sz="620" dirty="0">
                <a:solidFill>
                  <a:srgbClr val="424242"/>
                </a:solidFill>
                <a:latin typeface="Arial" pitchFamily="34" charset="0"/>
                <a:ea typeface="Arial" pitchFamily="34" charset="-122"/>
                <a:cs typeface="Arial" pitchFamily="34" charset="-120"/>
              </a:rPr>
              <a:t>Comprehensive Responsible AI Dashboard for model monitoring.</a:t>
            </a:r>
            <a:endParaRPr lang="en-US" sz="620" dirty="0"/>
          </a:p>
        </p:txBody>
      </p:sp>
      <p:sp>
        <p:nvSpPr>
          <p:cNvPr id="164" name="Text 157"/>
          <p:cNvSpPr/>
          <p:nvPr/>
        </p:nvSpPr>
        <p:spPr>
          <a:xfrm>
            <a:off x="6528816" y="9592056"/>
            <a:ext cx="2651760" cy="237744"/>
          </a:xfrm>
          <a:prstGeom prst="rect">
            <a:avLst/>
          </a:prstGeom>
          <a:noFill/>
          <a:ln/>
        </p:spPr>
        <p:txBody>
          <a:bodyPr wrap="square" rtlCol="0" anchor="ctr"/>
          <a:lstStyle/>
          <a:p>
            <a:pPr marL="0" indent="0">
              <a:buNone/>
            </a:pPr>
            <a:r>
              <a:rPr lang="en-US" sz="620" dirty="0">
                <a:solidFill>
                  <a:srgbClr val="424242"/>
                </a:solidFill>
                <a:latin typeface="Arial" pitchFamily="34" charset="0"/>
                <a:ea typeface="Arial" pitchFamily="34" charset="-122"/>
                <a:cs typeface="Arial" pitchFamily="34" charset="-120"/>
              </a:rPr>
              <a:t>Integration of Explainability (SHAP) for transparency.</a:t>
            </a:r>
            <a:endParaRPr lang="en-US" sz="620" dirty="0"/>
          </a:p>
        </p:txBody>
      </p:sp>
      <p:sp>
        <p:nvSpPr>
          <p:cNvPr id="166" name="Text 159"/>
          <p:cNvSpPr/>
          <p:nvPr/>
        </p:nvSpPr>
        <p:spPr>
          <a:xfrm>
            <a:off x="6528816" y="9857232"/>
            <a:ext cx="2651760" cy="237744"/>
          </a:xfrm>
          <a:prstGeom prst="rect">
            <a:avLst/>
          </a:prstGeom>
          <a:noFill/>
          <a:ln/>
        </p:spPr>
        <p:txBody>
          <a:bodyPr wrap="square" rtlCol="0" anchor="ctr"/>
          <a:lstStyle/>
          <a:p>
            <a:pPr marL="0" indent="0">
              <a:buNone/>
            </a:pPr>
            <a:r>
              <a:rPr lang="en-US" sz="620" dirty="0">
                <a:solidFill>
                  <a:srgbClr val="424242"/>
                </a:solidFill>
                <a:latin typeface="Arial" pitchFamily="34" charset="0"/>
                <a:ea typeface="Arial" pitchFamily="34" charset="-122"/>
                <a:cs typeface="Arial" pitchFamily="34" charset="-120"/>
              </a:rPr>
              <a:t>Bias and Fairness assessment across operational network groups.</a:t>
            </a:r>
            <a:endParaRPr lang="en-US" sz="620" dirty="0"/>
          </a:p>
        </p:txBody>
      </p:sp>
      <p:sp>
        <p:nvSpPr>
          <p:cNvPr id="168" name="Text 161"/>
          <p:cNvSpPr/>
          <p:nvPr/>
        </p:nvSpPr>
        <p:spPr>
          <a:xfrm>
            <a:off x="6528816" y="10122408"/>
            <a:ext cx="2651760" cy="237744"/>
          </a:xfrm>
          <a:prstGeom prst="rect">
            <a:avLst/>
          </a:prstGeom>
          <a:noFill/>
          <a:ln/>
        </p:spPr>
        <p:txBody>
          <a:bodyPr wrap="square" rtlCol="0" anchor="ctr"/>
          <a:lstStyle/>
          <a:p>
            <a:pPr marL="0" indent="0">
              <a:buNone/>
            </a:pPr>
            <a:r>
              <a:rPr lang="en-US" sz="620" dirty="0">
                <a:solidFill>
                  <a:srgbClr val="424242"/>
                </a:solidFill>
                <a:latin typeface="Arial" pitchFamily="34" charset="0"/>
                <a:ea typeface="Arial" pitchFamily="34" charset="-122"/>
                <a:cs typeface="Arial" pitchFamily="34" charset="-120"/>
              </a:rPr>
              <a:t>Automated Drift Detection for continuous monitoring.</a:t>
            </a:r>
            <a:endParaRPr lang="en-US" sz="620" dirty="0"/>
          </a:p>
        </p:txBody>
      </p:sp>
      <p:sp>
        <p:nvSpPr>
          <p:cNvPr id="170" name="Text 163"/>
          <p:cNvSpPr/>
          <p:nvPr/>
        </p:nvSpPr>
        <p:spPr>
          <a:xfrm>
            <a:off x="6528816" y="10387584"/>
            <a:ext cx="2651760" cy="237744"/>
          </a:xfrm>
          <a:prstGeom prst="rect">
            <a:avLst/>
          </a:prstGeom>
          <a:noFill/>
          <a:ln/>
        </p:spPr>
        <p:txBody>
          <a:bodyPr wrap="square" rtlCol="0" anchor="ctr"/>
          <a:lstStyle/>
          <a:p>
            <a:pPr marL="0" indent="0">
              <a:buNone/>
            </a:pPr>
            <a:r>
              <a:rPr lang="en-US" sz="620" dirty="0">
                <a:solidFill>
                  <a:srgbClr val="424242"/>
                </a:solidFill>
                <a:latin typeface="Arial" pitchFamily="34" charset="0"/>
                <a:ea typeface="Arial" pitchFamily="34" charset="-122"/>
                <a:cs typeface="Arial" pitchFamily="34" charset="-120"/>
              </a:rPr>
              <a:t>Risk Scoring Engine for actionable insights.</a:t>
            </a:r>
            <a:endParaRPr lang="en-US" sz="620" dirty="0"/>
          </a:p>
        </p:txBody>
      </p:sp>
      <p:sp>
        <p:nvSpPr>
          <p:cNvPr id="172" name="Text 165"/>
          <p:cNvSpPr/>
          <p:nvPr/>
        </p:nvSpPr>
        <p:spPr>
          <a:xfrm>
            <a:off x="6528816" y="10652760"/>
            <a:ext cx="2651760" cy="237744"/>
          </a:xfrm>
          <a:prstGeom prst="rect">
            <a:avLst/>
          </a:prstGeom>
          <a:noFill/>
          <a:ln/>
        </p:spPr>
        <p:txBody>
          <a:bodyPr wrap="square" rtlCol="0" anchor="ctr"/>
          <a:lstStyle/>
          <a:p>
            <a:pPr marL="0" indent="0">
              <a:buNone/>
            </a:pPr>
            <a:r>
              <a:rPr lang="en-US" sz="620" dirty="0">
                <a:solidFill>
                  <a:srgbClr val="424242"/>
                </a:solidFill>
                <a:latin typeface="Arial" pitchFamily="34" charset="0"/>
                <a:ea typeface="Arial" pitchFamily="34" charset="-122"/>
                <a:cs typeface="Arial" pitchFamily="34" charset="-120"/>
              </a:rPr>
              <a:t>Supports Governance, Compliance and Accountability.</a:t>
            </a:r>
            <a:endParaRPr lang="en-US" sz="620" dirty="0"/>
          </a:p>
        </p:txBody>
      </p:sp>
      <p:sp>
        <p:nvSpPr>
          <p:cNvPr id="173" name="Shape 166"/>
          <p:cNvSpPr/>
          <p:nvPr/>
        </p:nvSpPr>
        <p:spPr>
          <a:xfrm>
            <a:off x="72500" y="11018520"/>
            <a:ext cx="9180911" cy="2296035"/>
          </a:xfrm>
          <a:prstGeom prst="rect">
            <a:avLst/>
          </a:prstGeom>
          <a:solidFill>
            <a:srgbClr val="FFFFFF"/>
          </a:solidFill>
          <a:ln w="12700">
            <a:solidFill>
              <a:srgbClr val="BDBDBD"/>
            </a:solidFill>
            <a:prstDash val="solid"/>
          </a:ln>
        </p:spPr>
        <p:txBody>
          <a:bodyPr/>
          <a:lstStyle/>
          <a:p>
            <a:endParaRPr lang="en-US" dirty="0"/>
          </a:p>
        </p:txBody>
      </p:sp>
      <p:sp>
        <p:nvSpPr>
          <p:cNvPr id="174" name="Shape 167"/>
          <p:cNvSpPr/>
          <p:nvPr/>
        </p:nvSpPr>
        <p:spPr>
          <a:xfrm>
            <a:off x="73152" y="11036808"/>
            <a:ext cx="9180576" cy="256032"/>
          </a:xfrm>
          <a:prstGeom prst="rect">
            <a:avLst/>
          </a:prstGeom>
          <a:solidFill>
            <a:srgbClr val="1A5C38"/>
          </a:solidFill>
          <a:ln w="12700">
            <a:solidFill>
              <a:srgbClr val="1A5C38"/>
            </a:solidFill>
            <a:prstDash val="solid"/>
          </a:ln>
        </p:spPr>
      </p:sp>
      <p:sp>
        <p:nvSpPr>
          <p:cNvPr id="175" name="Text 168"/>
          <p:cNvSpPr/>
          <p:nvPr/>
        </p:nvSpPr>
        <p:spPr>
          <a:xfrm>
            <a:off x="263920" y="11055096"/>
            <a:ext cx="4572000" cy="219456"/>
          </a:xfrm>
          <a:prstGeom prst="rect">
            <a:avLst/>
          </a:prstGeom>
          <a:noFill/>
          <a:ln/>
        </p:spPr>
        <p:txBody>
          <a:bodyPr wrap="square" rtlCol="0" anchor="ctr"/>
          <a:lstStyle/>
          <a:p>
            <a:pPr marL="0" indent="0">
              <a:buNone/>
            </a:pPr>
            <a:r>
              <a:rPr lang="en-US" sz="800" b="1" dirty="0">
                <a:solidFill>
                  <a:srgbClr val="FFFFFF"/>
                </a:solidFill>
                <a:latin typeface="Arial" pitchFamily="34" charset="0"/>
                <a:ea typeface="Arial" pitchFamily="34" charset="-122"/>
                <a:cs typeface="Arial" pitchFamily="34" charset="-120"/>
              </a:rPr>
              <a:t>08  CONCLUSION</a:t>
            </a:r>
            <a:endParaRPr lang="en-US" sz="800" dirty="0"/>
          </a:p>
        </p:txBody>
      </p:sp>
      <p:sp>
        <p:nvSpPr>
          <p:cNvPr id="176" name="Text 169"/>
          <p:cNvSpPr/>
          <p:nvPr/>
        </p:nvSpPr>
        <p:spPr>
          <a:xfrm>
            <a:off x="100584" y="11302301"/>
            <a:ext cx="6858000" cy="1965960"/>
          </a:xfrm>
          <a:prstGeom prst="rect">
            <a:avLst/>
          </a:prstGeom>
          <a:noFill/>
          <a:ln/>
        </p:spPr>
        <p:txBody>
          <a:bodyPr wrap="square" rtlCol="0" anchor="t"/>
          <a:lstStyle/>
          <a:p>
            <a:pPr marL="171450" indent="-171450">
              <a:buFont typeface="Arial" panose="020B0604020202020204" pitchFamily="34" charset="0"/>
              <a:buChar char="•"/>
            </a:pPr>
            <a:r>
              <a:rPr lang="en-US" sz="650" dirty="0">
                <a:latin typeface="Arial" panose="020B0604020202020204" pitchFamily="34" charset="0"/>
                <a:cs typeface="Arial" panose="020B0604020202020204" pitchFamily="34" charset="0"/>
              </a:rPr>
              <a:t>The Responsible AI Dashboard provides a comprehensive framework for monitoring, evaluating, and governing AI systems throughout their lifecycle. By integrating explainability, fairness assessment, performance tracking, drift detection, and compliance monitoring, the dashboard enables organizations to identify risks before they impact decision-making processes.</a:t>
            </a:r>
          </a:p>
          <a:p>
            <a:pPr marL="171450" indent="-171450">
              <a:buFont typeface="Arial" panose="020B0604020202020204" pitchFamily="34" charset="0"/>
              <a:buChar char="•"/>
            </a:pPr>
            <a:endParaRPr lang="en-US" sz="65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latin typeface="Arial" panose="020B0604020202020204" pitchFamily="34" charset="0"/>
                <a:cs typeface="Arial" panose="020B0604020202020204" pitchFamily="34" charset="0"/>
              </a:rPr>
              <a:t>The results demonstrate that continuous monitoring significantly improves transparency, accountability, and trustworthiness in AI deployments. The unified risk scoring mechanism simplifies complex model evaluation metrics into actionable insights for stakeholders, regulators, and decision-makers.</a:t>
            </a:r>
          </a:p>
          <a:p>
            <a:pPr marL="171450" indent="-171450">
              <a:buFont typeface="Arial" panose="020B0604020202020204" pitchFamily="34" charset="0"/>
              <a:buChar char="•"/>
            </a:pPr>
            <a:endParaRPr lang="en-US" sz="65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latin typeface="Arial" panose="020B0604020202020204" pitchFamily="34" charset="0"/>
                <a:cs typeface="Arial" panose="020B0604020202020204" pitchFamily="34" charset="0"/>
              </a:rPr>
              <a:t>Overall, this work highlights the importance of Responsible AI practices and demonstrates how governance-driven dashboards can support ethical, fair, and reliable AI systems in real-world applications.</a:t>
            </a:r>
          </a:p>
          <a:p>
            <a:pPr marL="171450" indent="-171450">
              <a:buFont typeface="Arial" panose="020B0604020202020204" pitchFamily="34" charset="0"/>
              <a:buChar char="•"/>
            </a:pPr>
            <a:endParaRPr lang="en-US" sz="65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latin typeface="Arial" panose="020B0604020202020204" pitchFamily="34" charset="0"/>
                <a:cs typeface="Arial" panose="020B0604020202020204" pitchFamily="34" charset="0"/>
              </a:rPr>
              <a:t>The proposed framework achieved an </a:t>
            </a:r>
            <a:r>
              <a:rPr lang="en-US" sz="650" b="1" dirty="0">
                <a:latin typeface="Arial" panose="020B0604020202020204" pitchFamily="34" charset="0"/>
                <a:cs typeface="Arial" panose="020B0604020202020204" pitchFamily="34" charset="0"/>
              </a:rPr>
              <a:t>Explainability Score of 99.14%</a:t>
            </a:r>
            <a:r>
              <a:rPr lang="en-US" sz="650" dirty="0">
                <a:latin typeface="Arial" panose="020B0604020202020204" pitchFamily="34" charset="0"/>
                <a:cs typeface="Arial" panose="020B0604020202020204" pitchFamily="34" charset="0"/>
              </a:rPr>
              <a:t>, </a:t>
            </a:r>
            <a:r>
              <a:rPr lang="en-US" sz="650" b="1" dirty="0">
                <a:latin typeface="Arial" panose="020B0604020202020204" pitchFamily="34" charset="0"/>
                <a:cs typeface="Arial" panose="020B0604020202020204" pitchFamily="34" charset="0"/>
              </a:rPr>
              <a:t>Fairness Score of 89.42%</a:t>
            </a:r>
            <a:r>
              <a:rPr lang="en-US" sz="650" dirty="0">
                <a:latin typeface="Arial" panose="020B0604020202020204" pitchFamily="34" charset="0"/>
                <a:cs typeface="Arial" panose="020B0604020202020204" pitchFamily="34" charset="0"/>
              </a:rPr>
              <a:t>, and </a:t>
            </a:r>
            <a:r>
              <a:rPr lang="en-US" sz="650" b="1" dirty="0">
                <a:latin typeface="Arial" panose="020B0604020202020204" pitchFamily="34" charset="0"/>
                <a:cs typeface="Arial" panose="020B0604020202020204" pitchFamily="34" charset="0"/>
              </a:rPr>
              <a:t>Overall Risk Score of 86/100</a:t>
            </a:r>
            <a:r>
              <a:rPr lang="en-US" sz="650" dirty="0">
                <a:latin typeface="Arial" panose="020B0604020202020204" pitchFamily="34" charset="0"/>
                <a:cs typeface="Arial" panose="020B0604020202020204" pitchFamily="34" charset="0"/>
              </a:rPr>
              <a:t> while maintaining a minimal </a:t>
            </a:r>
            <a:r>
              <a:rPr lang="en-US" sz="650" b="1" dirty="0">
                <a:latin typeface="Arial" panose="020B0604020202020204" pitchFamily="34" charset="0"/>
                <a:cs typeface="Arial" panose="020B0604020202020204" pitchFamily="34" charset="0"/>
              </a:rPr>
              <a:t>drift score of 0.0043</a:t>
            </a:r>
            <a:r>
              <a:rPr lang="en-US" sz="650" dirty="0">
                <a:latin typeface="Arial" panose="020B0604020202020204" pitchFamily="34" charset="0"/>
                <a:cs typeface="Arial" panose="020B0604020202020204" pitchFamily="34" charset="0"/>
              </a:rPr>
              <a:t>. </a:t>
            </a:r>
          </a:p>
          <a:p>
            <a:pPr marL="171450" indent="-171450">
              <a:buFont typeface="Arial" panose="020B0604020202020204" pitchFamily="34" charset="0"/>
              <a:buChar char="•"/>
            </a:pPr>
            <a:endParaRPr lang="en-US" sz="65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650" dirty="0">
                <a:latin typeface="Arial" panose="020B0604020202020204" pitchFamily="34" charset="0"/>
                <a:cs typeface="Arial" panose="020B0604020202020204" pitchFamily="34" charset="0"/>
              </a:rPr>
              <a:t>These results demonstrate the effectiveness of continuous Responsible AI monitoring and governance.</a:t>
            </a:r>
          </a:p>
          <a:p>
            <a:pPr marL="0" indent="0">
              <a:buNone/>
            </a:pPr>
            <a:endParaRPr lang="en-US" sz="600" dirty="0">
              <a:latin typeface="Arial" panose="020B0604020202020204" pitchFamily="34" charset="0"/>
              <a:cs typeface="Arial" panose="020B0604020202020204" pitchFamily="34" charset="0"/>
            </a:endParaRPr>
          </a:p>
          <a:p>
            <a:pPr marL="0" indent="0">
              <a:buNone/>
            </a:pPr>
            <a:endParaRPr lang="en-US" sz="600" dirty="0">
              <a:latin typeface="Arial" panose="020B0604020202020204" pitchFamily="34" charset="0"/>
              <a:cs typeface="Arial" panose="020B0604020202020204" pitchFamily="34" charset="0"/>
            </a:endParaRPr>
          </a:p>
          <a:p>
            <a:pPr marL="0" indent="0">
              <a:buNone/>
            </a:pPr>
            <a:endParaRPr lang="en-US" sz="600" dirty="0">
              <a:latin typeface="Arial" panose="020B0604020202020204" pitchFamily="34" charset="0"/>
              <a:cs typeface="Arial" panose="020B0604020202020204" pitchFamily="34" charset="0"/>
            </a:endParaRPr>
          </a:p>
        </p:txBody>
      </p:sp>
      <p:sp>
        <p:nvSpPr>
          <p:cNvPr id="178" name="Text 171"/>
          <p:cNvSpPr/>
          <p:nvPr/>
        </p:nvSpPr>
        <p:spPr>
          <a:xfrm>
            <a:off x="7108808" y="12088686"/>
            <a:ext cx="685800" cy="146304"/>
          </a:xfrm>
          <a:prstGeom prst="rect">
            <a:avLst/>
          </a:prstGeom>
          <a:noFill/>
          <a:ln/>
        </p:spPr>
        <p:txBody>
          <a:bodyPr wrap="square" rtlCol="0" anchor="ctr"/>
          <a:lstStyle/>
          <a:p>
            <a:pPr marL="0" indent="0" algn="ctr">
              <a:buNone/>
            </a:pPr>
            <a:r>
              <a:rPr lang="en-US" sz="500" b="1" dirty="0">
                <a:solidFill>
                  <a:srgbClr val="424242"/>
                </a:solidFill>
                <a:latin typeface="Arial" pitchFamily="34" charset="0"/>
                <a:ea typeface="Arial" pitchFamily="34" charset="-122"/>
                <a:cs typeface="Arial" pitchFamily="34" charset="-120"/>
              </a:rPr>
              <a:t>Trustworthy AI</a:t>
            </a:r>
            <a:endParaRPr lang="en-US" sz="500" b="1" dirty="0"/>
          </a:p>
        </p:txBody>
      </p:sp>
      <p:sp>
        <p:nvSpPr>
          <p:cNvPr id="180" name="Text 173"/>
          <p:cNvSpPr/>
          <p:nvPr/>
        </p:nvSpPr>
        <p:spPr>
          <a:xfrm>
            <a:off x="8418056" y="12088686"/>
            <a:ext cx="713418" cy="146304"/>
          </a:xfrm>
          <a:prstGeom prst="rect">
            <a:avLst/>
          </a:prstGeom>
          <a:noFill/>
          <a:ln/>
        </p:spPr>
        <p:txBody>
          <a:bodyPr wrap="square" rtlCol="0" anchor="ctr"/>
          <a:lstStyle/>
          <a:p>
            <a:pPr marL="0" indent="0" algn="ctr">
              <a:buNone/>
            </a:pPr>
            <a:r>
              <a:rPr lang="en-US" sz="500" b="1" dirty="0">
                <a:solidFill>
                  <a:srgbClr val="424242"/>
                </a:solidFill>
                <a:latin typeface="Arial" pitchFamily="34" charset="0"/>
                <a:ea typeface="Arial" pitchFamily="34" charset="-122"/>
                <a:cs typeface="Arial" pitchFamily="34" charset="-120"/>
              </a:rPr>
              <a:t>Fair &amp; Unbiased</a:t>
            </a:r>
            <a:endParaRPr lang="en-US" sz="500" b="1" dirty="0"/>
          </a:p>
        </p:txBody>
      </p:sp>
      <p:sp>
        <p:nvSpPr>
          <p:cNvPr id="182" name="Text 175"/>
          <p:cNvSpPr/>
          <p:nvPr/>
        </p:nvSpPr>
        <p:spPr>
          <a:xfrm>
            <a:off x="7189597" y="12987365"/>
            <a:ext cx="555371" cy="146304"/>
          </a:xfrm>
          <a:prstGeom prst="rect">
            <a:avLst/>
          </a:prstGeom>
          <a:noFill/>
          <a:ln/>
        </p:spPr>
        <p:txBody>
          <a:bodyPr wrap="square" rtlCol="0" anchor="ctr"/>
          <a:lstStyle/>
          <a:p>
            <a:pPr marL="0" indent="0" algn="ctr">
              <a:buNone/>
            </a:pPr>
            <a:r>
              <a:rPr lang="en-US" sz="500" b="1" dirty="0">
                <a:solidFill>
                  <a:srgbClr val="424242"/>
                </a:solidFill>
                <a:latin typeface="Arial" pitchFamily="34" charset="0"/>
                <a:ea typeface="Arial" pitchFamily="34" charset="-122"/>
                <a:cs typeface="Arial" pitchFamily="34" charset="-120"/>
              </a:rPr>
              <a:t>Transparent</a:t>
            </a:r>
            <a:endParaRPr lang="en-US" sz="500" b="1" dirty="0"/>
          </a:p>
        </p:txBody>
      </p:sp>
      <p:sp>
        <p:nvSpPr>
          <p:cNvPr id="183" name="Shape 176"/>
          <p:cNvSpPr/>
          <p:nvPr/>
        </p:nvSpPr>
        <p:spPr>
          <a:xfrm>
            <a:off x="8491206" y="11503947"/>
            <a:ext cx="513879" cy="520731"/>
          </a:xfrm>
          <a:prstGeom prst="ellipse">
            <a:avLst/>
          </a:prstGeom>
          <a:solidFill>
            <a:srgbClr val="E8F5E9"/>
          </a:solidFill>
          <a:ln w="12700">
            <a:solidFill>
              <a:srgbClr val="4CAF50"/>
            </a:solidFill>
            <a:prstDash val="solid"/>
          </a:ln>
        </p:spPr>
        <p:txBody>
          <a:bodyPr/>
          <a:lstStyle/>
          <a:p>
            <a:endParaRPr lang="en-US" dirty="0"/>
          </a:p>
        </p:txBody>
      </p:sp>
      <p:sp>
        <p:nvSpPr>
          <p:cNvPr id="184" name="Text 177"/>
          <p:cNvSpPr/>
          <p:nvPr/>
        </p:nvSpPr>
        <p:spPr>
          <a:xfrm>
            <a:off x="8482855" y="12980396"/>
            <a:ext cx="578104" cy="146304"/>
          </a:xfrm>
          <a:prstGeom prst="rect">
            <a:avLst/>
          </a:prstGeom>
          <a:noFill/>
          <a:ln/>
        </p:spPr>
        <p:txBody>
          <a:bodyPr wrap="square" rtlCol="0" anchor="ctr"/>
          <a:lstStyle/>
          <a:p>
            <a:pPr marL="0" indent="0" algn="ctr">
              <a:buNone/>
            </a:pPr>
            <a:r>
              <a:rPr lang="en-US" sz="500" b="1" dirty="0">
                <a:solidFill>
                  <a:srgbClr val="424242"/>
                </a:solidFill>
                <a:latin typeface="Arial" pitchFamily="34" charset="0"/>
                <a:ea typeface="Arial" pitchFamily="34" charset="-122"/>
                <a:cs typeface="Arial" pitchFamily="34" charset="-120"/>
              </a:rPr>
              <a:t>Accountable</a:t>
            </a:r>
            <a:endParaRPr lang="en-US" sz="500" b="1" dirty="0"/>
          </a:p>
        </p:txBody>
      </p:sp>
      <p:sp>
        <p:nvSpPr>
          <p:cNvPr id="185" name="Shape 178"/>
          <p:cNvSpPr/>
          <p:nvPr/>
        </p:nvSpPr>
        <p:spPr>
          <a:xfrm>
            <a:off x="-14269" y="13395231"/>
            <a:ext cx="9326880" cy="237744"/>
          </a:xfrm>
          <a:prstGeom prst="rect">
            <a:avLst/>
          </a:prstGeom>
          <a:solidFill>
            <a:srgbClr val="1A5C38"/>
          </a:solidFill>
          <a:ln w="12700">
            <a:solidFill>
              <a:srgbClr val="1A5C38"/>
            </a:solidFill>
            <a:prstDash val="solid"/>
          </a:ln>
        </p:spPr>
      </p:sp>
      <p:sp>
        <p:nvSpPr>
          <p:cNvPr id="186" name="Text 179"/>
          <p:cNvSpPr/>
          <p:nvPr/>
        </p:nvSpPr>
        <p:spPr>
          <a:xfrm>
            <a:off x="91281" y="13406135"/>
            <a:ext cx="9144000" cy="182880"/>
          </a:xfrm>
          <a:prstGeom prst="rect">
            <a:avLst/>
          </a:prstGeom>
          <a:noFill/>
          <a:ln/>
        </p:spPr>
        <p:txBody>
          <a:bodyPr wrap="square" rtlCol="0" anchor="ctr"/>
          <a:lstStyle/>
          <a:p>
            <a:pPr marL="0" indent="0" algn="ctr">
              <a:buNone/>
            </a:pPr>
            <a:r>
              <a:rPr lang="en-US" sz="550" dirty="0">
                <a:solidFill>
                  <a:srgbClr val="A5D6A7"/>
                </a:solidFill>
                <a:latin typeface="Arial" pitchFamily="34" charset="0"/>
                <a:ea typeface="Arial" pitchFamily="34" charset="-122"/>
                <a:cs typeface="Arial" pitchFamily="34" charset="-120"/>
              </a:rPr>
              <a:t>Interdisciplinary Elective: AI, Power &amp; Responsibility – Governing Intelligent Systems for Sustainability   |   Author: Miten Mistry   |   University of Europe for Applied Sciences, Potsdam, Germany</a:t>
            </a:r>
            <a:endParaRPr lang="en-US" sz="550" dirty="0"/>
          </a:p>
        </p:txBody>
      </p:sp>
      <p:sp>
        <p:nvSpPr>
          <p:cNvPr id="2" name="Shape 0"/>
          <p:cNvSpPr/>
          <p:nvPr/>
        </p:nvSpPr>
        <p:spPr>
          <a:xfrm>
            <a:off x="-317" y="0"/>
            <a:ext cx="9326880" cy="1417320"/>
          </a:xfrm>
          <a:prstGeom prst="rect">
            <a:avLst/>
          </a:prstGeom>
          <a:solidFill>
            <a:srgbClr val="1A5C38"/>
          </a:solidFill>
          <a:ln w="12700">
            <a:solidFill>
              <a:srgbClr val="1A5C38"/>
            </a:solidFill>
            <a:prstDash val="solid"/>
          </a:ln>
        </p:spPr>
        <p:txBody>
          <a:bodyPr/>
          <a:lstStyle/>
          <a:p>
            <a:endParaRPr lang="en-US" dirty="0">
              <a:solidFill>
                <a:schemeClr val="accent4"/>
              </a:solidFill>
            </a:endParaRPr>
          </a:p>
        </p:txBody>
      </p:sp>
      <p:sp>
        <p:nvSpPr>
          <p:cNvPr id="3" name="Text 1"/>
          <p:cNvSpPr/>
          <p:nvPr/>
        </p:nvSpPr>
        <p:spPr>
          <a:xfrm>
            <a:off x="914400" y="73152"/>
            <a:ext cx="6400800" cy="914400"/>
          </a:xfrm>
          <a:prstGeom prst="rect">
            <a:avLst/>
          </a:prstGeom>
          <a:noFill/>
          <a:ln/>
        </p:spPr>
        <p:txBody>
          <a:bodyPr wrap="square" rtlCol="0" anchor="ctr"/>
          <a:lstStyle/>
          <a:p>
            <a:pPr marL="0" indent="0" algn="l">
              <a:buNone/>
            </a:pPr>
            <a:r>
              <a:rPr lang="en-US" sz="2200" b="1" dirty="0">
                <a:solidFill>
                  <a:srgbClr val="FFFFFF"/>
                </a:solidFill>
                <a:latin typeface="Arial" pitchFamily="34" charset="0"/>
                <a:ea typeface="Arial" pitchFamily="34" charset="-122"/>
                <a:cs typeface="Arial" pitchFamily="34" charset="-120"/>
              </a:rPr>
              <a:t>RESPONSIBLE AI DASHBOARD</a:t>
            </a:r>
            <a:endParaRPr lang="en-US" sz="2200" dirty="0"/>
          </a:p>
          <a:p>
            <a:pPr marL="0" indent="0" algn="l">
              <a:buNone/>
            </a:pPr>
            <a:r>
              <a:rPr lang="en-US" sz="2200" b="1" dirty="0">
                <a:solidFill>
                  <a:srgbClr val="FFFFFF"/>
                </a:solidFill>
                <a:latin typeface="Arial" pitchFamily="34" charset="0"/>
                <a:ea typeface="Arial" pitchFamily="34" charset="-122"/>
                <a:cs typeface="Arial" pitchFamily="34" charset="-120"/>
              </a:rPr>
              <a:t>FOR MODEL RISK ASSESSMENT</a:t>
            </a:r>
            <a:endParaRPr lang="en-US" sz="2200" dirty="0"/>
          </a:p>
        </p:txBody>
      </p:sp>
      <p:sp>
        <p:nvSpPr>
          <p:cNvPr id="4" name="Text 2"/>
          <p:cNvSpPr/>
          <p:nvPr/>
        </p:nvSpPr>
        <p:spPr>
          <a:xfrm>
            <a:off x="914400" y="877824"/>
            <a:ext cx="6400800" cy="347472"/>
          </a:xfrm>
          <a:prstGeom prst="rect">
            <a:avLst/>
          </a:prstGeom>
          <a:noFill/>
          <a:ln/>
        </p:spPr>
        <p:txBody>
          <a:bodyPr wrap="square" rtlCol="0" anchor="ctr"/>
          <a:lstStyle/>
          <a:p>
            <a:pPr marL="0" indent="0" algn="l">
              <a:buNone/>
            </a:pPr>
            <a:r>
              <a:rPr lang="en-US" sz="900" dirty="0">
                <a:solidFill>
                  <a:schemeClr val="accent4"/>
                </a:solidFill>
                <a:latin typeface="Arial" pitchFamily="34" charset="0"/>
                <a:ea typeface="Arial" pitchFamily="34" charset="-122"/>
                <a:cs typeface="Arial" pitchFamily="34" charset="-120"/>
              </a:rPr>
              <a:t>AI, Power &amp; Responsibility – Governing Intelligent Systems for Trustworthy AI</a:t>
            </a:r>
            <a:endParaRPr lang="en-US" sz="900" dirty="0">
              <a:solidFill>
                <a:schemeClr val="accent4"/>
              </a:solidFill>
            </a:endParaRPr>
          </a:p>
        </p:txBody>
      </p:sp>
      <p:sp>
        <p:nvSpPr>
          <p:cNvPr id="5" name="Shape 3"/>
          <p:cNvSpPr/>
          <p:nvPr/>
        </p:nvSpPr>
        <p:spPr>
          <a:xfrm>
            <a:off x="6766560" y="73152"/>
            <a:ext cx="530352" cy="640080"/>
          </a:xfrm>
          <a:prstGeom prst="rect">
            <a:avLst/>
          </a:prstGeom>
          <a:solidFill>
            <a:srgbClr val="2E7D32"/>
          </a:solidFill>
          <a:ln w="12700">
            <a:solidFill>
              <a:srgbClr val="4CAF50"/>
            </a:solidFill>
            <a:prstDash val="solid"/>
          </a:ln>
        </p:spPr>
      </p:sp>
      <p:sp>
        <p:nvSpPr>
          <p:cNvPr id="6" name="Text 4"/>
          <p:cNvSpPr/>
          <p:nvPr/>
        </p:nvSpPr>
        <p:spPr>
          <a:xfrm>
            <a:off x="6720840" y="724024"/>
            <a:ext cx="640080" cy="201168"/>
          </a:xfrm>
          <a:prstGeom prst="rect">
            <a:avLst/>
          </a:prstGeom>
          <a:noFill/>
          <a:ln/>
        </p:spPr>
        <p:txBody>
          <a:bodyPr wrap="square" rtlCol="0" anchor="ctr"/>
          <a:lstStyle/>
          <a:p>
            <a:pPr marL="0" indent="0" algn="ctr">
              <a:buNone/>
            </a:pPr>
            <a:r>
              <a:rPr lang="en-US" sz="500" dirty="0">
                <a:solidFill>
                  <a:schemeClr val="accent4"/>
                </a:solidFill>
                <a:latin typeface="Arial" pitchFamily="34" charset="0"/>
                <a:ea typeface="Arial" pitchFamily="34" charset="-122"/>
                <a:cs typeface="Arial" pitchFamily="34" charset="-120"/>
              </a:rPr>
              <a:t>Transparency</a:t>
            </a:r>
            <a:endParaRPr lang="en-US" sz="500" dirty="0">
              <a:solidFill>
                <a:schemeClr val="accent4"/>
              </a:solidFill>
            </a:endParaRPr>
          </a:p>
        </p:txBody>
      </p:sp>
      <p:sp>
        <p:nvSpPr>
          <p:cNvPr id="7" name="Shape 5"/>
          <p:cNvSpPr/>
          <p:nvPr/>
        </p:nvSpPr>
        <p:spPr>
          <a:xfrm>
            <a:off x="7388352" y="73152"/>
            <a:ext cx="530352" cy="640080"/>
          </a:xfrm>
          <a:prstGeom prst="rect">
            <a:avLst/>
          </a:prstGeom>
          <a:solidFill>
            <a:srgbClr val="2E7D32"/>
          </a:solidFill>
          <a:ln w="12700">
            <a:solidFill>
              <a:srgbClr val="4CAF50"/>
            </a:solidFill>
            <a:prstDash val="solid"/>
          </a:ln>
        </p:spPr>
      </p:sp>
      <p:sp>
        <p:nvSpPr>
          <p:cNvPr id="8" name="Text 6"/>
          <p:cNvSpPr/>
          <p:nvPr/>
        </p:nvSpPr>
        <p:spPr>
          <a:xfrm>
            <a:off x="7376758" y="724024"/>
            <a:ext cx="530352" cy="201168"/>
          </a:xfrm>
          <a:prstGeom prst="rect">
            <a:avLst/>
          </a:prstGeom>
          <a:noFill/>
          <a:ln/>
        </p:spPr>
        <p:txBody>
          <a:bodyPr wrap="square" rtlCol="0" anchor="ctr"/>
          <a:lstStyle/>
          <a:p>
            <a:pPr marL="0" indent="0" algn="ctr">
              <a:buNone/>
            </a:pPr>
            <a:r>
              <a:rPr lang="en-US" sz="500" dirty="0">
                <a:solidFill>
                  <a:schemeClr val="accent4"/>
                </a:solidFill>
                <a:latin typeface="Arial" pitchFamily="34" charset="0"/>
                <a:ea typeface="Arial" pitchFamily="34" charset="-122"/>
                <a:cs typeface="Arial" pitchFamily="34" charset="-120"/>
              </a:rPr>
              <a:t>Fairness</a:t>
            </a:r>
            <a:endParaRPr lang="en-US" sz="500" dirty="0">
              <a:solidFill>
                <a:schemeClr val="accent4"/>
              </a:solidFill>
            </a:endParaRPr>
          </a:p>
        </p:txBody>
      </p:sp>
      <p:sp>
        <p:nvSpPr>
          <p:cNvPr id="9" name="Shape 7"/>
          <p:cNvSpPr/>
          <p:nvPr/>
        </p:nvSpPr>
        <p:spPr>
          <a:xfrm>
            <a:off x="8010144" y="73152"/>
            <a:ext cx="530352" cy="640080"/>
          </a:xfrm>
          <a:prstGeom prst="rect">
            <a:avLst/>
          </a:prstGeom>
          <a:solidFill>
            <a:srgbClr val="2E7D32"/>
          </a:solidFill>
          <a:ln w="12700">
            <a:solidFill>
              <a:srgbClr val="4CAF50"/>
            </a:solidFill>
            <a:prstDash val="solid"/>
          </a:ln>
        </p:spPr>
      </p:sp>
      <p:sp>
        <p:nvSpPr>
          <p:cNvPr id="10" name="Text 8"/>
          <p:cNvSpPr/>
          <p:nvPr/>
        </p:nvSpPr>
        <p:spPr>
          <a:xfrm>
            <a:off x="7995203" y="724024"/>
            <a:ext cx="621792" cy="201168"/>
          </a:xfrm>
          <a:prstGeom prst="rect">
            <a:avLst/>
          </a:prstGeom>
          <a:noFill/>
          <a:ln/>
        </p:spPr>
        <p:txBody>
          <a:bodyPr wrap="square" rtlCol="0" anchor="ctr"/>
          <a:lstStyle/>
          <a:p>
            <a:pPr marL="0" indent="0" algn="ctr">
              <a:buNone/>
            </a:pPr>
            <a:r>
              <a:rPr lang="en-US" sz="500" dirty="0">
                <a:solidFill>
                  <a:schemeClr val="accent4"/>
                </a:solidFill>
                <a:latin typeface="Arial" pitchFamily="34" charset="0"/>
                <a:ea typeface="Arial" pitchFamily="34" charset="-122"/>
                <a:cs typeface="Arial" pitchFamily="34" charset="-120"/>
              </a:rPr>
              <a:t>Accountability</a:t>
            </a:r>
            <a:endParaRPr lang="en-US" sz="500" dirty="0">
              <a:solidFill>
                <a:schemeClr val="accent4"/>
              </a:solidFill>
            </a:endParaRPr>
          </a:p>
        </p:txBody>
      </p:sp>
      <p:sp>
        <p:nvSpPr>
          <p:cNvPr id="11" name="Shape 9"/>
          <p:cNvSpPr/>
          <p:nvPr/>
        </p:nvSpPr>
        <p:spPr>
          <a:xfrm>
            <a:off x="8631936" y="73152"/>
            <a:ext cx="530352" cy="640080"/>
          </a:xfrm>
          <a:prstGeom prst="rect">
            <a:avLst/>
          </a:prstGeom>
          <a:solidFill>
            <a:srgbClr val="2E7D32"/>
          </a:solidFill>
          <a:ln w="12700">
            <a:solidFill>
              <a:srgbClr val="4CAF50"/>
            </a:solidFill>
            <a:prstDash val="solid"/>
          </a:ln>
        </p:spPr>
      </p:sp>
      <p:sp>
        <p:nvSpPr>
          <p:cNvPr id="12" name="Text 10"/>
          <p:cNvSpPr/>
          <p:nvPr/>
        </p:nvSpPr>
        <p:spPr>
          <a:xfrm>
            <a:off x="8616995" y="717804"/>
            <a:ext cx="530352" cy="201168"/>
          </a:xfrm>
          <a:prstGeom prst="rect">
            <a:avLst/>
          </a:prstGeom>
          <a:noFill/>
          <a:ln/>
        </p:spPr>
        <p:txBody>
          <a:bodyPr wrap="square" rtlCol="0" anchor="ctr"/>
          <a:lstStyle/>
          <a:p>
            <a:pPr marL="0" indent="0" algn="ctr">
              <a:buNone/>
            </a:pPr>
            <a:r>
              <a:rPr lang="en-US" sz="500" dirty="0">
                <a:solidFill>
                  <a:schemeClr val="accent4"/>
                </a:solidFill>
                <a:latin typeface="Arial" pitchFamily="34" charset="0"/>
                <a:ea typeface="Arial" pitchFamily="34" charset="-122"/>
                <a:cs typeface="Arial" pitchFamily="34" charset="-120"/>
              </a:rPr>
              <a:t>Governance</a:t>
            </a:r>
            <a:endParaRPr lang="en-US" sz="500" dirty="0">
              <a:solidFill>
                <a:schemeClr val="accent4"/>
              </a:solidFill>
            </a:endParaRPr>
          </a:p>
        </p:txBody>
      </p:sp>
      <p:pic>
        <p:nvPicPr>
          <p:cNvPr id="188" name="Picture 187">
            <a:extLst>
              <a:ext uri="{FF2B5EF4-FFF2-40B4-BE49-F238E27FC236}">
                <a16:creationId xmlns:a16="http://schemas.microsoft.com/office/drawing/2014/main" id="{78C363FB-6B43-4949-B52C-86DFEAC0A6E3}"/>
              </a:ext>
            </a:extLst>
          </p:cNvPr>
          <p:cNvPicPr>
            <a:picLocks noChangeAspect="1"/>
          </p:cNvPicPr>
          <p:nvPr/>
        </p:nvPicPr>
        <p:blipFill>
          <a:blip r:embed="rId7"/>
          <a:stretch>
            <a:fillRect/>
          </a:stretch>
        </p:blipFill>
        <p:spPr>
          <a:xfrm>
            <a:off x="83412" y="180879"/>
            <a:ext cx="769430" cy="769430"/>
          </a:xfrm>
          <a:prstGeom prst="rect">
            <a:avLst/>
          </a:prstGeom>
        </p:spPr>
      </p:pic>
      <p:pic>
        <p:nvPicPr>
          <p:cNvPr id="190" name="Picture 189">
            <a:extLst>
              <a:ext uri="{FF2B5EF4-FFF2-40B4-BE49-F238E27FC236}">
                <a16:creationId xmlns:a16="http://schemas.microsoft.com/office/drawing/2014/main" id="{C9E42F8E-959D-1347-9A23-6A3BF6F7A52A}"/>
              </a:ext>
            </a:extLst>
          </p:cNvPr>
          <p:cNvPicPr>
            <a:picLocks noChangeAspect="1"/>
          </p:cNvPicPr>
          <p:nvPr/>
        </p:nvPicPr>
        <p:blipFill>
          <a:blip r:embed="rId8"/>
          <a:stretch>
            <a:fillRect/>
          </a:stretch>
        </p:blipFill>
        <p:spPr>
          <a:xfrm>
            <a:off x="6797268" y="163309"/>
            <a:ext cx="457342" cy="457342"/>
          </a:xfrm>
          <a:prstGeom prst="rect">
            <a:avLst/>
          </a:prstGeom>
        </p:spPr>
      </p:pic>
      <p:pic>
        <p:nvPicPr>
          <p:cNvPr id="192" name="Picture 191">
            <a:extLst>
              <a:ext uri="{FF2B5EF4-FFF2-40B4-BE49-F238E27FC236}">
                <a16:creationId xmlns:a16="http://schemas.microsoft.com/office/drawing/2014/main" id="{18104C7F-C8CA-3F44-B832-30E5EC07758E}"/>
              </a:ext>
            </a:extLst>
          </p:cNvPr>
          <p:cNvPicPr>
            <a:picLocks noChangeAspect="1"/>
          </p:cNvPicPr>
          <p:nvPr/>
        </p:nvPicPr>
        <p:blipFill>
          <a:blip r:embed="rId9"/>
          <a:stretch>
            <a:fillRect/>
          </a:stretch>
        </p:blipFill>
        <p:spPr>
          <a:xfrm>
            <a:off x="7459217" y="204678"/>
            <a:ext cx="377028" cy="377028"/>
          </a:xfrm>
          <a:prstGeom prst="rect">
            <a:avLst/>
          </a:prstGeom>
        </p:spPr>
      </p:pic>
      <p:pic>
        <p:nvPicPr>
          <p:cNvPr id="194" name="Picture 193">
            <a:extLst>
              <a:ext uri="{FF2B5EF4-FFF2-40B4-BE49-F238E27FC236}">
                <a16:creationId xmlns:a16="http://schemas.microsoft.com/office/drawing/2014/main" id="{1A50028C-D9C1-E54B-948E-2F3857477BAA}"/>
              </a:ext>
            </a:extLst>
          </p:cNvPr>
          <p:cNvPicPr>
            <a:picLocks noChangeAspect="1"/>
          </p:cNvPicPr>
          <p:nvPr/>
        </p:nvPicPr>
        <p:blipFill>
          <a:blip r:embed="rId10"/>
          <a:stretch>
            <a:fillRect/>
          </a:stretch>
        </p:blipFill>
        <p:spPr>
          <a:xfrm>
            <a:off x="8623523" y="121333"/>
            <a:ext cx="554069" cy="554069"/>
          </a:xfrm>
          <a:prstGeom prst="rect">
            <a:avLst/>
          </a:prstGeom>
        </p:spPr>
      </p:pic>
      <p:pic>
        <p:nvPicPr>
          <p:cNvPr id="196" name="Picture 195">
            <a:extLst>
              <a:ext uri="{FF2B5EF4-FFF2-40B4-BE49-F238E27FC236}">
                <a16:creationId xmlns:a16="http://schemas.microsoft.com/office/drawing/2014/main" id="{0C2C9DD8-6646-F345-98B3-2D6820EA5E19}"/>
              </a:ext>
            </a:extLst>
          </p:cNvPr>
          <p:cNvPicPr>
            <a:picLocks noChangeAspect="1"/>
          </p:cNvPicPr>
          <p:nvPr/>
        </p:nvPicPr>
        <p:blipFill>
          <a:blip r:embed="rId11"/>
          <a:stretch>
            <a:fillRect/>
          </a:stretch>
        </p:blipFill>
        <p:spPr>
          <a:xfrm>
            <a:off x="8073630" y="159435"/>
            <a:ext cx="448641" cy="448641"/>
          </a:xfrm>
          <a:prstGeom prst="rect">
            <a:avLst/>
          </a:prstGeom>
        </p:spPr>
      </p:pic>
      <p:pic>
        <p:nvPicPr>
          <p:cNvPr id="209" name="Picture 208">
            <a:extLst>
              <a:ext uri="{FF2B5EF4-FFF2-40B4-BE49-F238E27FC236}">
                <a16:creationId xmlns:a16="http://schemas.microsoft.com/office/drawing/2014/main" id="{82B09368-6321-5244-B482-1EAA057C2D78}"/>
              </a:ext>
            </a:extLst>
          </p:cNvPr>
          <p:cNvPicPr>
            <a:picLocks noChangeAspect="1"/>
          </p:cNvPicPr>
          <p:nvPr/>
        </p:nvPicPr>
        <p:blipFill>
          <a:blip r:embed="rId12"/>
          <a:stretch>
            <a:fillRect/>
          </a:stretch>
        </p:blipFill>
        <p:spPr>
          <a:xfrm>
            <a:off x="6327649" y="9353499"/>
            <a:ext cx="181864" cy="181864"/>
          </a:xfrm>
          <a:prstGeom prst="rect">
            <a:avLst/>
          </a:prstGeom>
        </p:spPr>
      </p:pic>
      <p:pic>
        <p:nvPicPr>
          <p:cNvPr id="210" name="Picture 209">
            <a:extLst>
              <a:ext uri="{FF2B5EF4-FFF2-40B4-BE49-F238E27FC236}">
                <a16:creationId xmlns:a16="http://schemas.microsoft.com/office/drawing/2014/main" id="{1F8806CF-C493-6348-A3F9-9F2D5C2AB655}"/>
              </a:ext>
            </a:extLst>
          </p:cNvPr>
          <p:cNvPicPr>
            <a:picLocks noChangeAspect="1"/>
          </p:cNvPicPr>
          <p:nvPr/>
        </p:nvPicPr>
        <p:blipFill>
          <a:blip r:embed="rId12"/>
          <a:stretch>
            <a:fillRect/>
          </a:stretch>
        </p:blipFill>
        <p:spPr>
          <a:xfrm>
            <a:off x="6330087" y="9620504"/>
            <a:ext cx="181864" cy="181864"/>
          </a:xfrm>
          <a:prstGeom prst="rect">
            <a:avLst/>
          </a:prstGeom>
        </p:spPr>
      </p:pic>
      <p:pic>
        <p:nvPicPr>
          <p:cNvPr id="211" name="Picture 210">
            <a:extLst>
              <a:ext uri="{FF2B5EF4-FFF2-40B4-BE49-F238E27FC236}">
                <a16:creationId xmlns:a16="http://schemas.microsoft.com/office/drawing/2014/main" id="{EF7F0466-F594-D74D-B419-17B39141D906}"/>
              </a:ext>
            </a:extLst>
          </p:cNvPr>
          <p:cNvPicPr>
            <a:picLocks noChangeAspect="1"/>
          </p:cNvPicPr>
          <p:nvPr/>
        </p:nvPicPr>
        <p:blipFill>
          <a:blip r:embed="rId12"/>
          <a:stretch>
            <a:fillRect/>
          </a:stretch>
        </p:blipFill>
        <p:spPr>
          <a:xfrm>
            <a:off x="6330087" y="9884664"/>
            <a:ext cx="181864" cy="181864"/>
          </a:xfrm>
          <a:prstGeom prst="rect">
            <a:avLst/>
          </a:prstGeom>
        </p:spPr>
      </p:pic>
      <p:pic>
        <p:nvPicPr>
          <p:cNvPr id="212" name="Picture 211">
            <a:extLst>
              <a:ext uri="{FF2B5EF4-FFF2-40B4-BE49-F238E27FC236}">
                <a16:creationId xmlns:a16="http://schemas.microsoft.com/office/drawing/2014/main" id="{02C5DB46-4CD8-534E-844A-32B0FC837F5A}"/>
              </a:ext>
            </a:extLst>
          </p:cNvPr>
          <p:cNvPicPr>
            <a:picLocks noChangeAspect="1"/>
          </p:cNvPicPr>
          <p:nvPr/>
        </p:nvPicPr>
        <p:blipFill>
          <a:blip r:embed="rId12"/>
          <a:stretch>
            <a:fillRect/>
          </a:stretch>
        </p:blipFill>
        <p:spPr>
          <a:xfrm>
            <a:off x="6330087" y="10149840"/>
            <a:ext cx="181864" cy="181864"/>
          </a:xfrm>
          <a:prstGeom prst="rect">
            <a:avLst/>
          </a:prstGeom>
        </p:spPr>
      </p:pic>
      <p:pic>
        <p:nvPicPr>
          <p:cNvPr id="213" name="Picture 212">
            <a:extLst>
              <a:ext uri="{FF2B5EF4-FFF2-40B4-BE49-F238E27FC236}">
                <a16:creationId xmlns:a16="http://schemas.microsoft.com/office/drawing/2014/main" id="{5D66FA2E-1E9E-134E-8353-6A1FF7AC184E}"/>
              </a:ext>
            </a:extLst>
          </p:cNvPr>
          <p:cNvPicPr>
            <a:picLocks noChangeAspect="1"/>
          </p:cNvPicPr>
          <p:nvPr/>
        </p:nvPicPr>
        <p:blipFill>
          <a:blip r:embed="rId12"/>
          <a:stretch>
            <a:fillRect/>
          </a:stretch>
        </p:blipFill>
        <p:spPr>
          <a:xfrm>
            <a:off x="6330087" y="10412984"/>
            <a:ext cx="181864" cy="181864"/>
          </a:xfrm>
          <a:prstGeom prst="rect">
            <a:avLst/>
          </a:prstGeom>
        </p:spPr>
      </p:pic>
      <p:pic>
        <p:nvPicPr>
          <p:cNvPr id="214" name="Picture 213">
            <a:extLst>
              <a:ext uri="{FF2B5EF4-FFF2-40B4-BE49-F238E27FC236}">
                <a16:creationId xmlns:a16="http://schemas.microsoft.com/office/drawing/2014/main" id="{CE48F389-6F23-594C-B4E0-9A6BB58AF067}"/>
              </a:ext>
            </a:extLst>
          </p:cNvPr>
          <p:cNvPicPr>
            <a:picLocks noChangeAspect="1"/>
          </p:cNvPicPr>
          <p:nvPr/>
        </p:nvPicPr>
        <p:blipFill>
          <a:blip r:embed="rId12"/>
          <a:stretch>
            <a:fillRect/>
          </a:stretch>
        </p:blipFill>
        <p:spPr>
          <a:xfrm>
            <a:off x="6330088" y="10669016"/>
            <a:ext cx="181864" cy="181864"/>
          </a:xfrm>
          <a:prstGeom prst="rect">
            <a:avLst/>
          </a:prstGeom>
        </p:spPr>
      </p:pic>
      <p:pic>
        <p:nvPicPr>
          <p:cNvPr id="216" name="Picture 215">
            <a:extLst>
              <a:ext uri="{FF2B5EF4-FFF2-40B4-BE49-F238E27FC236}">
                <a16:creationId xmlns:a16="http://schemas.microsoft.com/office/drawing/2014/main" id="{D60BB0D3-38D6-C84C-956E-A9B97850923B}"/>
              </a:ext>
            </a:extLst>
          </p:cNvPr>
          <p:cNvPicPr>
            <a:picLocks noChangeAspect="1"/>
          </p:cNvPicPr>
          <p:nvPr/>
        </p:nvPicPr>
        <p:blipFill>
          <a:blip r:embed="rId13"/>
          <a:stretch>
            <a:fillRect/>
          </a:stretch>
        </p:blipFill>
        <p:spPr>
          <a:xfrm>
            <a:off x="164592" y="10278637"/>
            <a:ext cx="185407" cy="185407"/>
          </a:xfrm>
          <a:prstGeom prst="rect">
            <a:avLst/>
          </a:prstGeom>
        </p:spPr>
      </p:pic>
      <p:pic>
        <p:nvPicPr>
          <p:cNvPr id="218" name="Picture 217">
            <a:extLst>
              <a:ext uri="{FF2B5EF4-FFF2-40B4-BE49-F238E27FC236}">
                <a16:creationId xmlns:a16="http://schemas.microsoft.com/office/drawing/2014/main" id="{55DDF1C1-2CFB-F64F-966F-6D00FC4C2C11}"/>
              </a:ext>
            </a:extLst>
          </p:cNvPr>
          <p:cNvPicPr>
            <a:picLocks noChangeAspect="1"/>
          </p:cNvPicPr>
          <p:nvPr/>
        </p:nvPicPr>
        <p:blipFill>
          <a:blip r:embed="rId14"/>
          <a:stretch>
            <a:fillRect/>
          </a:stretch>
        </p:blipFill>
        <p:spPr>
          <a:xfrm>
            <a:off x="89105" y="11055096"/>
            <a:ext cx="212647" cy="212647"/>
          </a:xfrm>
          <a:prstGeom prst="rect">
            <a:avLst/>
          </a:prstGeom>
        </p:spPr>
      </p:pic>
      <p:pic>
        <p:nvPicPr>
          <p:cNvPr id="220" name="Picture 219">
            <a:extLst>
              <a:ext uri="{FF2B5EF4-FFF2-40B4-BE49-F238E27FC236}">
                <a16:creationId xmlns:a16="http://schemas.microsoft.com/office/drawing/2014/main" id="{5FF54E64-FBB2-6540-B262-65E6760A4F2A}"/>
              </a:ext>
            </a:extLst>
          </p:cNvPr>
          <p:cNvPicPr>
            <a:picLocks noChangeAspect="1"/>
          </p:cNvPicPr>
          <p:nvPr/>
        </p:nvPicPr>
        <p:blipFill>
          <a:blip r:embed="rId15"/>
          <a:stretch>
            <a:fillRect/>
          </a:stretch>
        </p:blipFill>
        <p:spPr>
          <a:xfrm>
            <a:off x="139199" y="9031986"/>
            <a:ext cx="224028" cy="224028"/>
          </a:xfrm>
          <a:prstGeom prst="rect">
            <a:avLst/>
          </a:prstGeom>
        </p:spPr>
      </p:pic>
      <p:pic>
        <p:nvPicPr>
          <p:cNvPr id="224" name="Picture 223">
            <a:extLst>
              <a:ext uri="{FF2B5EF4-FFF2-40B4-BE49-F238E27FC236}">
                <a16:creationId xmlns:a16="http://schemas.microsoft.com/office/drawing/2014/main" id="{A4BC36F4-405A-374A-8072-24D623C54428}"/>
              </a:ext>
            </a:extLst>
          </p:cNvPr>
          <p:cNvPicPr>
            <a:picLocks noChangeAspect="1"/>
          </p:cNvPicPr>
          <p:nvPr/>
        </p:nvPicPr>
        <p:blipFill>
          <a:blip r:embed="rId16"/>
          <a:stretch>
            <a:fillRect/>
          </a:stretch>
        </p:blipFill>
        <p:spPr>
          <a:xfrm>
            <a:off x="2610612" y="1821716"/>
            <a:ext cx="207208" cy="208252"/>
          </a:xfrm>
          <a:prstGeom prst="rect">
            <a:avLst/>
          </a:prstGeom>
        </p:spPr>
      </p:pic>
      <p:pic>
        <p:nvPicPr>
          <p:cNvPr id="226" name="Picture 225">
            <a:extLst>
              <a:ext uri="{FF2B5EF4-FFF2-40B4-BE49-F238E27FC236}">
                <a16:creationId xmlns:a16="http://schemas.microsoft.com/office/drawing/2014/main" id="{D05BC25A-D96C-7240-B5DA-C8E3290FBD1E}"/>
              </a:ext>
            </a:extLst>
          </p:cNvPr>
          <p:cNvPicPr>
            <a:picLocks noChangeAspect="1"/>
          </p:cNvPicPr>
          <p:nvPr/>
        </p:nvPicPr>
        <p:blipFill>
          <a:blip r:embed="rId17"/>
          <a:stretch>
            <a:fillRect/>
          </a:stretch>
        </p:blipFill>
        <p:spPr>
          <a:xfrm>
            <a:off x="164275" y="2688336"/>
            <a:ext cx="141732" cy="141732"/>
          </a:xfrm>
          <a:prstGeom prst="rect">
            <a:avLst/>
          </a:prstGeom>
        </p:spPr>
      </p:pic>
      <p:pic>
        <p:nvPicPr>
          <p:cNvPr id="228" name="Picture 227">
            <a:extLst>
              <a:ext uri="{FF2B5EF4-FFF2-40B4-BE49-F238E27FC236}">
                <a16:creationId xmlns:a16="http://schemas.microsoft.com/office/drawing/2014/main" id="{97E74AAF-028E-2D41-8D49-E9D160809532}"/>
              </a:ext>
            </a:extLst>
          </p:cNvPr>
          <p:cNvPicPr>
            <a:picLocks noChangeAspect="1"/>
          </p:cNvPicPr>
          <p:nvPr/>
        </p:nvPicPr>
        <p:blipFill>
          <a:blip r:embed="rId18"/>
          <a:stretch>
            <a:fillRect/>
          </a:stretch>
        </p:blipFill>
        <p:spPr>
          <a:xfrm>
            <a:off x="64495" y="1504992"/>
            <a:ext cx="199560" cy="199560"/>
          </a:xfrm>
          <a:prstGeom prst="rect">
            <a:avLst/>
          </a:prstGeom>
        </p:spPr>
      </p:pic>
      <p:pic>
        <p:nvPicPr>
          <p:cNvPr id="232" name="Picture 231">
            <a:extLst>
              <a:ext uri="{FF2B5EF4-FFF2-40B4-BE49-F238E27FC236}">
                <a16:creationId xmlns:a16="http://schemas.microsoft.com/office/drawing/2014/main" id="{0DAD50CE-AA2A-C541-9171-4D93B584DBA6}"/>
              </a:ext>
            </a:extLst>
          </p:cNvPr>
          <p:cNvPicPr>
            <a:picLocks noChangeAspect="1"/>
          </p:cNvPicPr>
          <p:nvPr/>
        </p:nvPicPr>
        <p:blipFill>
          <a:blip r:embed="rId19"/>
          <a:stretch>
            <a:fillRect/>
          </a:stretch>
        </p:blipFill>
        <p:spPr>
          <a:xfrm>
            <a:off x="2566030" y="1523990"/>
            <a:ext cx="171460" cy="171460"/>
          </a:xfrm>
          <a:prstGeom prst="rect">
            <a:avLst/>
          </a:prstGeom>
        </p:spPr>
      </p:pic>
      <p:pic>
        <p:nvPicPr>
          <p:cNvPr id="233" name="Picture 232">
            <a:extLst>
              <a:ext uri="{FF2B5EF4-FFF2-40B4-BE49-F238E27FC236}">
                <a16:creationId xmlns:a16="http://schemas.microsoft.com/office/drawing/2014/main" id="{25A5106D-F5AF-9241-B618-CD4221697A5F}"/>
              </a:ext>
            </a:extLst>
          </p:cNvPr>
          <p:cNvPicPr>
            <a:picLocks noChangeAspect="1"/>
          </p:cNvPicPr>
          <p:nvPr/>
        </p:nvPicPr>
        <p:blipFill>
          <a:blip r:embed="rId10"/>
          <a:stretch>
            <a:fillRect/>
          </a:stretch>
        </p:blipFill>
        <p:spPr>
          <a:xfrm>
            <a:off x="5356431" y="1518120"/>
            <a:ext cx="197453" cy="197453"/>
          </a:xfrm>
          <a:prstGeom prst="rect">
            <a:avLst/>
          </a:prstGeom>
        </p:spPr>
      </p:pic>
      <p:pic>
        <p:nvPicPr>
          <p:cNvPr id="237" name="Picture 236">
            <a:extLst>
              <a:ext uri="{FF2B5EF4-FFF2-40B4-BE49-F238E27FC236}">
                <a16:creationId xmlns:a16="http://schemas.microsoft.com/office/drawing/2014/main" id="{B7243C65-CFC7-B244-886D-48B49B99AECD}"/>
              </a:ext>
            </a:extLst>
          </p:cNvPr>
          <p:cNvPicPr>
            <a:picLocks noChangeAspect="1"/>
          </p:cNvPicPr>
          <p:nvPr/>
        </p:nvPicPr>
        <p:blipFill>
          <a:blip r:embed="rId20"/>
          <a:stretch>
            <a:fillRect/>
          </a:stretch>
        </p:blipFill>
        <p:spPr>
          <a:xfrm>
            <a:off x="5375702" y="3845013"/>
            <a:ext cx="201821" cy="201821"/>
          </a:xfrm>
          <a:prstGeom prst="rect">
            <a:avLst/>
          </a:prstGeom>
        </p:spPr>
      </p:pic>
      <p:sp>
        <p:nvSpPr>
          <p:cNvPr id="239" name="Shape 176">
            <a:extLst>
              <a:ext uri="{FF2B5EF4-FFF2-40B4-BE49-F238E27FC236}">
                <a16:creationId xmlns:a16="http://schemas.microsoft.com/office/drawing/2014/main" id="{FC0689FD-17E7-F04B-9418-B7AC01AD799F}"/>
              </a:ext>
            </a:extLst>
          </p:cNvPr>
          <p:cNvSpPr/>
          <p:nvPr/>
        </p:nvSpPr>
        <p:spPr>
          <a:xfrm>
            <a:off x="7154366" y="11520126"/>
            <a:ext cx="544882" cy="551904"/>
          </a:xfrm>
          <a:prstGeom prst="ellipse">
            <a:avLst/>
          </a:prstGeom>
          <a:solidFill>
            <a:srgbClr val="E8F5E9"/>
          </a:solidFill>
          <a:ln w="12700">
            <a:solidFill>
              <a:srgbClr val="4CAF50"/>
            </a:solidFill>
            <a:prstDash val="solid"/>
          </a:ln>
        </p:spPr>
        <p:txBody>
          <a:bodyPr/>
          <a:lstStyle/>
          <a:p>
            <a:endParaRPr lang="en-US" dirty="0"/>
          </a:p>
        </p:txBody>
      </p:sp>
      <p:sp>
        <p:nvSpPr>
          <p:cNvPr id="240" name="Shape 176">
            <a:extLst>
              <a:ext uri="{FF2B5EF4-FFF2-40B4-BE49-F238E27FC236}">
                <a16:creationId xmlns:a16="http://schemas.microsoft.com/office/drawing/2014/main" id="{1D96D9AD-A557-B449-BB25-D80FBAB476FE}"/>
              </a:ext>
            </a:extLst>
          </p:cNvPr>
          <p:cNvSpPr/>
          <p:nvPr/>
        </p:nvSpPr>
        <p:spPr>
          <a:xfrm>
            <a:off x="7190479" y="12420592"/>
            <a:ext cx="513879" cy="520731"/>
          </a:xfrm>
          <a:prstGeom prst="ellipse">
            <a:avLst/>
          </a:prstGeom>
          <a:solidFill>
            <a:srgbClr val="E8F5E9"/>
          </a:solidFill>
          <a:ln w="12700">
            <a:solidFill>
              <a:srgbClr val="4CAF50"/>
            </a:solidFill>
            <a:prstDash val="solid"/>
          </a:ln>
        </p:spPr>
        <p:txBody>
          <a:bodyPr/>
          <a:lstStyle/>
          <a:p>
            <a:endParaRPr lang="en-US" dirty="0"/>
          </a:p>
        </p:txBody>
      </p:sp>
      <p:sp>
        <p:nvSpPr>
          <p:cNvPr id="241" name="Shape 176">
            <a:extLst>
              <a:ext uri="{FF2B5EF4-FFF2-40B4-BE49-F238E27FC236}">
                <a16:creationId xmlns:a16="http://schemas.microsoft.com/office/drawing/2014/main" id="{30215202-0A17-2F41-9988-22EC617932A1}"/>
              </a:ext>
            </a:extLst>
          </p:cNvPr>
          <p:cNvSpPr/>
          <p:nvPr/>
        </p:nvSpPr>
        <p:spPr>
          <a:xfrm>
            <a:off x="8495504" y="12430897"/>
            <a:ext cx="513879" cy="520731"/>
          </a:xfrm>
          <a:prstGeom prst="ellipse">
            <a:avLst/>
          </a:prstGeom>
          <a:solidFill>
            <a:srgbClr val="E8F5E9"/>
          </a:solidFill>
          <a:ln w="12700">
            <a:solidFill>
              <a:srgbClr val="4CAF50"/>
            </a:solidFill>
            <a:prstDash val="solid"/>
          </a:ln>
        </p:spPr>
        <p:txBody>
          <a:bodyPr/>
          <a:lstStyle/>
          <a:p>
            <a:endParaRPr lang="en-US" dirty="0"/>
          </a:p>
        </p:txBody>
      </p:sp>
      <p:pic>
        <p:nvPicPr>
          <p:cNvPr id="243" name="Picture 242">
            <a:extLst>
              <a:ext uri="{FF2B5EF4-FFF2-40B4-BE49-F238E27FC236}">
                <a16:creationId xmlns:a16="http://schemas.microsoft.com/office/drawing/2014/main" id="{61D1A39C-B1F9-7C43-81B0-C024D1E6AA5A}"/>
              </a:ext>
            </a:extLst>
          </p:cNvPr>
          <p:cNvPicPr>
            <a:picLocks noChangeAspect="1"/>
          </p:cNvPicPr>
          <p:nvPr/>
        </p:nvPicPr>
        <p:blipFill>
          <a:blip r:embed="rId21"/>
          <a:stretch>
            <a:fillRect/>
          </a:stretch>
        </p:blipFill>
        <p:spPr>
          <a:xfrm>
            <a:off x="7221728" y="11607834"/>
            <a:ext cx="400177" cy="400177"/>
          </a:xfrm>
          <a:prstGeom prst="rect">
            <a:avLst/>
          </a:prstGeom>
        </p:spPr>
      </p:pic>
      <p:pic>
        <p:nvPicPr>
          <p:cNvPr id="245" name="Picture 244">
            <a:extLst>
              <a:ext uri="{FF2B5EF4-FFF2-40B4-BE49-F238E27FC236}">
                <a16:creationId xmlns:a16="http://schemas.microsoft.com/office/drawing/2014/main" id="{45BA0516-3EE9-1A45-8958-AA2465FC9BEA}"/>
              </a:ext>
            </a:extLst>
          </p:cNvPr>
          <p:cNvPicPr>
            <a:picLocks noChangeAspect="1"/>
          </p:cNvPicPr>
          <p:nvPr/>
        </p:nvPicPr>
        <p:blipFill>
          <a:blip r:embed="rId22"/>
          <a:stretch>
            <a:fillRect/>
          </a:stretch>
        </p:blipFill>
        <p:spPr>
          <a:xfrm>
            <a:off x="8587808" y="11615723"/>
            <a:ext cx="320675" cy="320675"/>
          </a:xfrm>
          <a:prstGeom prst="rect">
            <a:avLst/>
          </a:prstGeom>
        </p:spPr>
      </p:pic>
      <p:pic>
        <p:nvPicPr>
          <p:cNvPr id="249" name="Picture 248">
            <a:extLst>
              <a:ext uri="{FF2B5EF4-FFF2-40B4-BE49-F238E27FC236}">
                <a16:creationId xmlns:a16="http://schemas.microsoft.com/office/drawing/2014/main" id="{0F6D381E-289D-6343-9C37-5925B7C7D0E9}"/>
              </a:ext>
            </a:extLst>
          </p:cNvPr>
          <p:cNvPicPr>
            <a:picLocks noChangeAspect="1"/>
          </p:cNvPicPr>
          <p:nvPr/>
        </p:nvPicPr>
        <p:blipFill>
          <a:blip r:embed="rId23"/>
          <a:stretch>
            <a:fillRect/>
          </a:stretch>
        </p:blipFill>
        <p:spPr>
          <a:xfrm>
            <a:off x="8600892" y="12526011"/>
            <a:ext cx="317367" cy="317367"/>
          </a:xfrm>
          <a:prstGeom prst="rect">
            <a:avLst/>
          </a:prstGeom>
        </p:spPr>
      </p:pic>
      <p:pic>
        <p:nvPicPr>
          <p:cNvPr id="251" name="Picture 250">
            <a:extLst>
              <a:ext uri="{FF2B5EF4-FFF2-40B4-BE49-F238E27FC236}">
                <a16:creationId xmlns:a16="http://schemas.microsoft.com/office/drawing/2014/main" id="{26CA37EC-D7BD-4842-84ED-B70F4B6FFF4C}"/>
              </a:ext>
            </a:extLst>
          </p:cNvPr>
          <p:cNvPicPr>
            <a:picLocks noChangeAspect="1"/>
          </p:cNvPicPr>
          <p:nvPr/>
        </p:nvPicPr>
        <p:blipFill>
          <a:blip r:embed="rId24"/>
          <a:stretch>
            <a:fillRect/>
          </a:stretch>
        </p:blipFill>
        <p:spPr>
          <a:xfrm>
            <a:off x="7248537" y="12479720"/>
            <a:ext cx="409449" cy="409449"/>
          </a:xfrm>
          <a:prstGeom prst="rect">
            <a:avLst/>
          </a:prstGeom>
        </p:spPr>
      </p:pic>
      <p:pic>
        <p:nvPicPr>
          <p:cNvPr id="257" name="Picture 256">
            <a:extLst>
              <a:ext uri="{FF2B5EF4-FFF2-40B4-BE49-F238E27FC236}">
                <a16:creationId xmlns:a16="http://schemas.microsoft.com/office/drawing/2014/main" id="{C7489CC3-0594-3042-A743-995038C45891}"/>
              </a:ext>
            </a:extLst>
          </p:cNvPr>
          <p:cNvPicPr>
            <a:picLocks noChangeAspect="1"/>
          </p:cNvPicPr>
          <p:nvPr/>
        </p:nvPicPr>
        <p:blipFill>
          <a:blip r:embed="rId25"/>
          <a:stretch>
            <a:fillRect/>
          </a:stretch>
        </p:blipFill>
        <p:spPr>
          <a:xfrm>
            <a:off x="7850668" y="12070607"/>
            <a:ext cx="485464" cy="485464"/>
          </a:xfrm>
          <a:prstGeom prst="rect">
            <a:avLst/>
          </a:prstGeom>
        </p:spPr>
      </p:pic>
      <p:pic>
        <p:nvPicPr>
          <p:cNvPr id="163" name="Picture 162">
            <a:extLst>
              <a:ext uri="{FF2B5EF4-FFF2-40B4-BE49-F238E27FC236}">
                <a16:creationId xmlns:a16="http://schemas.microsoft.com/office/drawing/2014/main" id="{8169ADD9-E75B-AF42-BF9D-616AE989A12A}"/>
              </a:ext>
            </a:extLst>
          </p:cNvPr>
          <p:cNvPicPr>
            <a:picLocks noChangeAspect="1"/>
          </p:cNvPicPr>
          <p:nvPr/>
        </p:nvPicPr>
        <p:blipFill>
          <a:blip r:embed="rId26"/>
          <a:stretch>
            <a:fillRect/>
          </a:stretch>
        </p:blipFill>
        <p:spPr>
          <a:xfrm>
            <a:off x="3155688" y="7618607"/>
            <a:ext cx="1986624" cy="1182182"/>
          </a:xfrm>
          <a:prstGeom prst="rect">
            <a:avLst/>
          </a:prstGeom>
        </p:spPr>
      </p:pic>
      <p:pic>
        <p:nvPicPr>
          <p:cNvPr id="167" name="Picture 166">
            <a:extLst>
              <a:ext uri="{FF2B5EF4-FFF2-40B4-BE49-F238E27FC236}">
                <a16:creationId xmlns:a16="http://schemas.microsoft.com/office/drawing/2014/main" id="{3B38987B-6D9B-0E43-9567-4E308DB0E3AC}"/>
              </a:ext>
            </a:extLst>
          </p:cNvPr>
          <p:cNvPicPr>
            <a:picLocks noChangeAspect="1"/>
          </p:cNvPicPr>
          <p:nvPr/>
        </p:nvPicPr>
        <p:blipFill>
          <a:blip r:embed="rId27"/>
          <a:stretch>
            <a:fillRect/>
          </a:stretch>
        </p:blipFill>
        <p:spPr>
          <a:xfrm>
            <a:off x="7333188" y="7594869"/>
            <a:ext cx="1920223" cy="1068293"/>
          </a:xfrm>
          <a:prstGeom prst="rect">
            <a:avLst/>
          </a:prstGeom>
        </p:spPr>
      </p:pic>
      <p:pic>
        <p:nvPicPr>
          <p:cNvPr id="171" name="Picture 170">
            <a:extLst>
              <a:ext uri="{FF2B5EF4-FFF2-40B4-BE49-F238E27FC236}">
                <a16:creationId xmlns:a16="http://schemas.microsoft.com/office/drawing/2014/main" id="{8E8477F5-3866-D843-BB69-1E43B71B08D2}"/>
              </a:ext>
            </a:extLst>
          </p:cNvPr>
          <p:cNvPicPr>
            <a:picLocks noChangeAspect="1"/>
          </p:cNvPicPr>
          <p:nvPr/>
        </p:nvPicPr>
        <p:blipFill>
          <a:blip r:embed="rId28"/>
          <a:stretch>
            <a:fillRect/>
          </a:stretch>
        </p:blipFill>
        <p:spPr>
          <a:xfrm>
            <a:off x="2593108" y="2701222"/>
            <a:ext cx="245319" cy="24531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3231</TotalTime>
  <Words>861</Words>
  <Application>Microsoft Macintosh PowerPoint</Application>
  <PresentationFormat>Custom</PresentationFormat>
  <Paragraphs>164</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Miten Mistry</cp:lastModifiedBy>
  <cp:revision>11</cp:revision>
  <dcterms:created xsi:type="dcterms:W3CDTF">2026-06-02T21:03:20Z</dcterms:created>
  <dcterms:modified xsi:type="dcterms:W3CDTF">2026-06-05T07:56:48Z</dcterms:modified>
</cp:coreProperties>
</file>